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Inter Light"/>
      <p:regular r:id="rId26"/>
      <p:bold r:id="rId27"/>
      <p:italic r:id="rId28"/>
      <p:boldItalic r:id="rId29"/>
    </p:embeddedFont>
    <p:embeddedFont>
      <p:font typeface="Inter SemiBold"/>
      <p:regular r:id="rId30"/>
      <p:bold r:id="rId31"/>
      <p:italic r:id="rId32"/>
      <p:boldItalic r:id="rId33"/>
    </p:embeddedFont>
    <p:embeddedFont>
      <p:font typeface="Inter"/>
      <p:regular r:id="rId34"/>
      <p:bold r:id="rId35"/>
      <p:italic r:id="rId36"/>
      <p:boldItalic r:id="rId37"/>
    </p:embeddedFont>
    <p:embeddedFont>
      <p:font typeface="Inter Medium"/>
      <p:regular r:id="rId38"/>
      <p:bold r:id="rId39"/>
      <p:italic r:id="rId40"/>
      <p:boldItalic r:id="rId41"/>
    </p:embeddedFont>
    <p:embeddedFont>
      <p:font typeface="Inter Black"/>
      <p:bold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4BF0B0-4ADD-46CE-A64C-A67F10C38C31}">
  <a:tblStyle styleId="{724BF0B0-4ADD-46CE-A64C-A67F10C38C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italic.fntdata"/><Relationship Id="rId20" Type="http://schemas.openxmlformats.org/officeDocument/2006/relationships/slide" Target="slides/slide14.xml"/><Relationship Id="rId42" Type="http://schemas.openxmlformats.org/officeDocument/2006/relationships/font" Target="fonts/InterBlack-bold.fntdata"/><Relationship Id="rId41" Type="http://schemas.openxmlformats.org/officeDocument/2006/relationships/font" Target="fonts/InterMedium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InterBlack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Light-regular.fntdata"/><Relationship Id="rId25" Type="http://schemas.openxmlformats.org/officeDocument/2006/relationships/slide" Target="slides/slide19.xml"/><Relationship Id="rId28" Type="http://schemas.openxmlformats.org/officeDocument/2006/relationships/font" Target="fonts/InterLight-italic.fntdata"/><Relationship Id="rId27" Type="http://schemas.openxmlformats.org/officeDocument/2006/relationships/font" Target="fonts/Inter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bold.fntdata"/><Relationship Id="rId30" Type="http://schemas.openxmlformats.org/officeDocument/2006/relationships/font" Target="fonts/Inter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Inter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SemiBold-italic.fntdata"/><Relationship Id="rId13" Type="http://schemas.openxmlformats.org/officeDocument/2006/relationships/slide" Target="slides/slide7.xml"/><Relationship Id="rId35" Type="http://schemas.openxmlformats.org/officeDocument/2006/relationships/font" Target="fonts/Inter-bold.fntdata"/><Relationship Id="rId12" Type="http://schemas.openxmlformats.org/officeDocument/2006/relationships/slide" Target="slides/slide6.xml"/><Relationship Id="rId34" Type="http://schemas.openxmlformats.org/officeDocument/2006/relationships/font" Target="fonts/Inter-regular.fntdata"/><Relationship Id="rId15" Type="http://schemas.openxmlformats.org/officeDocument/2006/relationships/slide" Target="slides/slide9.xml"/><Relationship Id="rId37" Type="http://schemas.openxmlformats.org/officeDocument/2006/relationships/font" Target="fonts/Inter-boldItalic.fntdata"/><Relationship Id="rId14" Type="http://schemas.openxmlformats.org/officeDocument/2006/relationships/slide" Target="slides/slide8.xml"/><Relationship Id="rId36" Type="http://schemas.openxmlformats.org/officeDocument/2006/relationships/font" Target="fonts/Inter-italic.fntdata"/><Relationship Id="rId17" Type="http://schemas.openxmlformats.org/officeDocument/2006/relationships/slide" Target="slides/slide11.xml"/><Relationship Id="rId39" Type="http://schemas.openxmlformats.org/officeDocument/2006/relationships/font" Target="fonts/InterMedium-bold.fntdata"/><Relationship Id="rId16" Type="http://schemas.openxmlformats.org/officeDocument/2006/relationships/slide" Target="slides/slide10.xml"/><Relationship Id="rId38" Type="http://schemas.openxmlformats.org/officeDocument/2006/relationships/font" Target="fonts/InterMedium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b3aa3c77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b3aa3c77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b3aa3c77a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b3aa3c77a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b3aa3c77a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b3aa3c77a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b3aa3c77a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b3aa3c77a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b3aa3c77ab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b3aa3c77ab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3aa3c77a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b3aa3c77a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b3aa3c77a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b3aa3c77a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c9d129578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c9d129578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bf3ded1ef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bf3ded1ef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bf3ded1ef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bf3ded1ef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bf3ded1efd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bf3ded1ef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bf3ded1efd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bf3ded1efd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b3aa3c77ab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b3aa3c77ab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c9d12957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c9d12957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bf3ded1efd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bf3ded1efd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bf46a6c74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bf46a6c74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bf46a6c74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bf46a6c74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bf46a6c74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bf46a6c74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bf46a6c74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bf46a6c74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75" y="-2125"/>
            <a:ext cx="6913800" cy="4203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7F784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Google Shape;11;p2"/>
          <p:cNvSpPr/>
          <p:nvPr/>
        </p:nvSpPr>
        <p:spPr>
          <a:xfrm rot="10800000">
            <a:off x="175" y="4198775"/>
            <a:ext cx="6913800" cy="940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Google Shape;12;p2"/>
          <p:cNvSpPr/>
          <p:nvPr/>
        </p:nvSpPr>
        <p:spPr>
          <a:xfrm rot="10800000">
            <a:off x="6914000" y="4198775"/>
            <a:ext cx="2232300" cy="940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" name="Google Shape;13;p2"/>
          <p:cNvSpPr/>
          <p:nvPr/>
        </p:nvSpPr>
        <p:spPr>
          <a:xfrm rot="10800000">
            <a:off x="6914000" y="-2225"/>
            <a:ext cx="2232300" cy="42024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272350" y="746550"/>
            <a:ext cx="6493800" cy="33828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272350" y="4377150"/>
            <a:ext cx="18129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7046325" y="4377150"/>
            <a:ext cx="18129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3" type="subTitle"/>
          </p:nvPr>
        </p:nvSpPr>
        <p:spPr>
          <a:xfrm>
            <a:off x="3078275" y="4377150"/>
            <a:ext cx="28740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4" type="subTitle"/>
          </p:nvPr>
        </p:nvSpPr>
        <p:spPr>
          <a:xfrm>
            <a:off x="7046325" y="244300"/>
            <a:ext cx="1812900" cy="115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Inter Light"/>
              <a:buNone/>
              <a:defRPr sz="26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pic>
        <p:nvPicPr>
          <p:cNvPr id="19" name="Google Shape;19;p2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1_1">
    <p:bg>
      <p:bgPr>
        <a:solidFill>
          <a:schemeClr val="dk2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175" y="-2125"/>
            <a:ext cx="6913800" cy="42030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" name="Google Shape;22;p3"/>
          <p:cNvSpPr/>
          <p:nvPr/>
        </p:nvSpPr>
        <p:spPr>
          <a:xfrm rot="10800000">
            <a:off x="175" y="4198775"/>
            <a:ext cx="6913800" cy="940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" name="Google Shape;23;p3"/>
          <p:cNvSpPr/>
          <p:nvPr/>
        </p:nvSpPr>
        <p:spPr>
          <a:xfrm rot="10800000">
            <a:off x="6914000" y="4198775"/>
            <a:ext cx="2232300" cy="940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" name="Google Shape;24;p3"/>
          <p:cNvSpPr/>
          <p:nvPr/>
        </p:nvSpPr>
        <p:spPr>
          <a:xfrm rot="10800000">
            <a:off x="6914000" y="-2225"/>
            <a:ext cx="2232300" cy="42024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272350" y="213150"/>
            <a:ext cx="6493800" cy="33828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>
            <a:off x="272350" y="3551131"/>
            <a:ext cx="4404300" cy="4527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" name="Google Shape;29;p3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5" y="0"/>
            <a:ext cx="2232300" cy="972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Team 1">
  <p:cSld name="CUSTOM_1_1_1">
    <p:bg>
      <p:bgPr>
        <a:gradFill>
          <a:gsLst>
            <a:gs pos="0">
              <a:schemeClr val="accent1"/>
            </a:gs>
            <a:gs pos="72000">
              <a:schemeClr val="lt1"/>
            </a:gs>
            <a:gs pos="100000">
              <a:schemeClr val="dk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>
            <p:ph idx="2" type="pic"/>
          </p:nvPr>
        </p:nvSpPr>
        <p:spPr>
          <a:xfrm>
            <a:off x="294150" y="1381775"/>
            <a:ext cx="1258200" cy="17979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3" type="pic"/>
          </p:nvPr>
        </p:nvSpPr>
        <p:spPr>
          <a:xfrm>
            <a:off x="3650100" y="1381775"/>
            <a:ext cx="1258200" cy="138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4" type="pic"/>
          </p:nvPr>
        </p:nvSpPr>
        <p:spPr>
          <a:xfrm>
            <a:off x="1750675" y="2340900"/>
            <a:ext cx="1457400" cy="12528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4"/>
          <p:cNvSpPr/>
          <p:nvPr>
            <p:ph idx="5" type="pic"/>
          </p:nvPr>
        </p:nvSpPr>
        <p:spPr>
          <a:xfrm>
            <a:off x="5242450" y="2340900"/>
            <a:ext cx="1779900" cy="12528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4"/>
          <p:cNvSpPr/>
          <p:nvPr>
            <p:ph idx="6" type="pic"/>
          </p:nvPr>
        </p:nvSpPr>
        <p:spPr>
          <a:xfrm>
            <a:off x="7371800" y="1740600"/>
            <a:ext cx="1258200" cy="18681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284400" y="257451"/>
            <a:ext cx="8578800" cy="9102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/>
        </p:txBody>
      </p:sp>
      <p:sp>
        <p:nvSpPr>
          <p:cNvPr id="39" name="Google Shape;39;p4"/>
          <p:cNvSpPr txBox="1"/>
          <p:nvPr>
            <p:ph idx="1" type="subTitle"/>
          </p:nvPr>
        </p:nvSpPr>
        <p:spPr>
          <a:xfrm>
            <a:off x="294150" y="3363724"/>
            <a:ext cx="17271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7" type="subTitle"/>
          </p:nvPr>
        </p:nvSpPr>
        <p:spPr>
          <a:xfrm>
            <a:off x="277450" y="3579300"/>
            <a:ext cx="1258200" cy="7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1" name="Google Shape;41;p4"/>
          <p:cNvSpPr txBox="1"/>
          <p:nvPr>
            <p:ph idx="8" type="subTitle"/>
          </p:nvPr>
        </p:nvSpPr>
        <p:spPr>
          <a:xfrm>
            <a:off x="1764575" y="3798149"/>
            <a:ext cx="17271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9" type="subTitle"/>
          </p:nvPr>
        </p:nvSpPr>
        <p:spPr>
          <a:xfrm>
            <a:off x="1747875" y="4013725"/>
            <a:ext cx="1258200" cy="7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4"/>
          <p:cNvSpPr txBox="1"/>
          <p:nvPr>
            <p:ph idx="13" type="subTitle"/>
          </p:nvPr>
        </p:nvSpPr>
        <p:spPr>
          <a:xfrm>
            <a:off x="3657350" y="2946171"/>
            <a:ext cx="17271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4" type="subTitle"/>
          </p:nvPr>
        </p:nvSpPr>
        <p:spPr>
          <a:xfrm>
            <a:off x="3640650" y="3161747"/>
            <a:ext cx="1258200" cy="7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5" name="Google Shape;45;p4"/>
          <p:cNvSpPr txBox="1"/>
          <p:nvPr>
            <p:ph idx="15" type="subTitle"/>
          </p:nvPr>
        </p:nvSpPr>
        <p:spPr>
          <a:xfrm>
            <a:off x="5259150" y="3798146"/>
            <a:ext cx="17271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6" type="subTitle"/>
          </p:nvPr>
        </p:nvSpPr>
        <p:spPr>
          <a:xfrm>
            <a:off x="5242450" y="4013722"/>
            <a:ext cx="1258200" cy="7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7" name="Google Shape;47;p4"/>
          <p:cNvSpPr txBox="1"/>
          <p:nvPr>
            <p:ph idx="17" type="subTitle"/>
          </p:nvPr>
        </p:nvSpPr>
        <p:spPr>
          <a:xfrm>
            <a:off x="7388500" y="3798146"/>
            <a:ext cx="17271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8" type="subTitle"/>
          </p:nvPr>
        </p:nvSpPr>
        <p:spPr>
          <a:xfrm>
            <a:off x="7371800" y="4013722"/>
            <a:ext cx="1258200" cy="7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pic>
        <p:nvPicPr>
          <p:cNvPr id="49" name="Google Shape;49;p4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 - One line title">
  <p:cSld name="CUSTOM_4">
    <p:bg>
      <p:bgPr>
        <a:gradFill>
          <a:gsLst>
            <a:gs pos="0">
              <a:schemeClr val="accent1"/>
            </a:gs>
            <a:gs pos="56000">
              <a:schemeClr val="lt1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8025" y="0"/>
            <a:ext cx="9144000" cy="137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" name="Google Shape;52;p5"/>
          <p:cNvSpPr txBox="1"/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3" name="Google Shape;53;p5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5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5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1">
  <p:cSld name="BLANK_1_1_1_1_1_1_1_1_1_1_1_1_1_1_2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2175" y="-25"/>
            <a:ext cx="9144000" cy="138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6"/>
          <p:cNvSpPr txBox="1"/>
          <p:nvPr>
            <p:ph idx="1" type="body"/>
          </p:nvPr>
        </p:nvSpPr>
        <p:spPr>
          <a:xfrm>
            <a:off x="284400" y="2950425"/>
            <a:ext cx="2450700" cy="190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2" type="subTitle"/>
          </p:nvPr>
        </p:nvSpPr>
        <p:spPr>
          <a:xfrm>
            <a:off x="284400" y="1692116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6"/>
          <p:cNvSpPr txBox="1"/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61" name="Google Shape;61;p6"/>
          <p:cNvSpPr txBox="1"/>
          <p:nvPr>
            <p:ph idx="3" type="body"/>
          </p:nvPr>
        </p:nvSpPr>
        <p:spPr>
          <a:xfrm>
            <a:off x="3356096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4" type="subTitle"/>
          </p:nvPr>
        </p:nvSpPr>
        <p:spPr>
          <a:xfrm>
            <a:off x="3356100" y="1692116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5" type="body"/>
          </p:nvPr>
        </p:nvSpPr>
        <p:spPr>
          <a:xfrm>
            <a:off x="6413576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idx="6" type="subTitle"/>
          </p:nvPr>
        </p:nvSpPr>
        <p:spPr>
          <a:xfrm>
            <a:off x="6413584" y="1692116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6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p6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 - Two lines title">
  <p:cSld name="CUSTOM_4_1">
    <p:bg>
      <p:bgPr>
        <a:gradFill>
          <a:gsLst>
            <a:gs pos="0">
              <a:schemeClr val="accent1"/>
            </a:gs>
            <a:gs pos="56000">
              <a:schemeClr val="lt1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/>
          <p:nvPr/>
        </p:nvSpPr>
        <p:spPr>
          <a:xfrm>
            <a:off x="8025" y="0"/>
            <a:ext cx="9144000" cy="137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7"/>
          <p:cNvSpPr txBox="1"/>
          <p:nvPr>
            <p:ph type="title"/>
          </p:nvPr>
        </p:nvSpPr>
        <p:spPr>
          <a:xfrm>
            <a:off x="284400" y="348369"/>
            <a:ext cx="6418200" cy="9102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7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 - One line title ">
  <p:cSld name="CUSTOM_4_1_1">
    <p:bg>
      <p:bgPr>
        <a:solidFill>
          <a:schemeClr val="dk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/>
          <p:nvPr/>
        </p:nvSpPr>
        <p:spPr>
          <a:xfrm>
            <a:off x="8025" y="0"/>
            <a:ext cx="9144000" cy="137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8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8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8"/>
          <p:cNvSpPr txBox="1"/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pic>
        <p:nvPicPr>
          <p:cNvPr id="79" name="Google Shape;79;p8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Speakers">
  <p:cSld name="CUSTOM_4_1_1_1_1_2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>
            <a:off x="6900" y="0"/>
            <a:ext cx="9137100" cy="3523200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chemeClr val="lt1"/>
              </a:gs>
              <a:gs pos="100000">
                <a:schemeClr val="dk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0" y="2102300"/>
            <a:ext cx="9144000" cy="304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9"/>
          <p:cNvSpPr/>
          <p:nvPr>
            <p:ph idx="2" type="pic"/>
          </p:nvPr>
        </p:nvSpPr>
        <p:spPr>
          <a:xfrm>
            <a:off x="1745738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9"/>
          <p:cNvSpPr/>
          <p:nvPr>
            <p:ph idx="3" type="pic"/>
          </p:nvPr>
        </p:nvSpPr>
        <p:spPr>
          <a:xfrm>
            <a:off x="3214088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9"/>
          <p:cNvSpPr/>
          <p:nvPr>
            <p:ph idx="4" type="pic"/>
          </p:nvPr>
        </p:nvSpPr>
        <p:spPr>
          <a:xfrm>
            <a:off x="4677100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9"/>
          <p:cNvSpPr/>
          <p:nvPr>
            <p:ph idx="5" type="pic"/>
          </p:nvPr>
        </p:nvSpPr>
        <p:spPr>
          <a:xfrm>
            <a:off x="6145700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9"/>
          <p:cNvSpPr/>
          <p:nvPr>
            <p:ph idx="6" type="pic"/>
          </p:nvPr>
        </p:nvSpPr>
        <p:spPr>
          <a:xfrm>
            <a:off x="7614300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9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9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9"/>
          <p:cNvSpPr txBox="1"/>
          <p:nvPr>
            <p:ph type="title"/>
          </p:nvPr>
        </p:nvSpPr>
        <p:spPr>
          <a:xfrm>
            <a:off x="284400" y="668399"/>
            <a:ext cx="8578800" cy="9102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/>
        </p:txBody>
      </p:sp>
      <p:sp>
        <p:nvSpPr>
          <p:cNvPr id="91" name="Google Shape;91;p9"/>
          <p:cNvSpPr txBox="1"/>
          <p:nvPr>
            <p:ph idx="1" type="subTitle"/>
          </p:nvPr>
        </p:nvSpPr>
        <p:spPr>
          <a:xfrm>
            <a:off x="284700" y="3892206"/>
            <a:ext cx="1258200" cy="1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9"/>
          <p:cNvSpPr/>
          <p:nvPr>
            <p:ph idx="7" type="pic"/>
          </p:nvPr>
        </p:nvSpPr>
        <p:spPr>
          <a:xfrm>
            <a:off x="274950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9"/>
          <p:cNvSpPr txBox="1"/>
          <p:nvPr>
            <p:ph idx="8" type="subTitle"/>
          </p:nvPr>
        </p:nvSpPr>
        <p:spPr>
          <a:xfrm>
            <a:off x="284700" y="4087691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9"/>
          <p:cNvSpPr txBox="1"/>
          <p:nvPr>
            <p:ph idx="9" type="subTitle"/>
          </p:nvPr>
        </p:nvSpPr>
        <p:spPr>
          <a:xfrm>
            <a:off x="284675" y="4322169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13" type="subTitle"/>
          </p:nvPr>
        </p:nvSpPr>
        <p:spPr>
          <a:xfrm>
            <a:off x="1745775" y="3892206"/>
            <a:ext cx="1258200" cy="1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14" type="subTitle"/>
          </p:nvPr>
        </p:nvSpPr>
        <p:spPr>
          <a:xfrm>
            <a:off x="1745775" y="4087691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15" type="subTitle"/>
          </p:nvPr>
        </p:nvSpPr>
        <p:spPr>
          <a:xfrm>
            <a:off x="1745750" y="4322169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16" type="subTitle"/>
          </p:nvPr>
        </p:nvSpPr>
        <p:spPr>
          <a:xfrm>
            <a:off x="3219513" y="3892206"/>
            <a:ext cx="1258200" cy="1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7" type="subTitle"/>
          </p:nvPr>
        </p:nvSpPr>
        <p:spPr>
          <a:xfrm>
            <a:off x="3219513" y="4087691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9"/>
          <p:cNvSpPr txBox="1"/>
          <p:nvPr>
            <p:ph idx="18" type="subTitle"/>
          </p:nvPr>
        </p:nvSpPr>
        <p:spPr>
          <a:xfrm>
            <a:off x="3219488" y="4322169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19" type="subTitle"/>
          </p:nvPr>
        </p:nvSpPr>
        <p:spPr>
          <a:xfrm>
            <a:off x="4683950" y="3892206"/>
            <a:ext cx="1258200" cy="1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9"/>
          <p:cNvSpPr txBox="1"/>
          <p:nvPr>
            <p:ph idx="20" type="subTitle"/>
          </p:nvPr>
        </p:nvSpPr>
        <p:spPr>
          <a:xfrm>
            <a:off x="4683950" y="4087691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" name="Google Shape;103;p9"/>
          <p:cNvSpPr txBox="1"/>
          <p:nvPr>
            <p:ph idx="21" type="subTitle"/>
          </p:nvPr>
        </p:nvSpPr>
        <p:spPr>
          <a:xfrm>
            <a:off x="4683925" y="4322169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9"/>
          <p:cNvSpPr txBox="1"/>
          <p:nvPr>
            <p:ph idx="22" type="subTitle"/>
          </p:nvPr>
        </p:nvSpPr>
        <p:spPr>
          <a:xfrm>
            <a:off x="6148375" y="3892206"/>
            <a:ext cx="1258200" cy="1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9"/>
          <p:cNvSpPr txBox="1"/>
          <p:nvPr>
            <p:ph idx="23" type="subTitle"/>
          </p:nvPr>
        </p:nvSpPr>
        <p:spPr>
          <a:xfrm>
            <a:off x="6148375" y="4087691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9"/>
          <p:cNvSpPr txBox="1"/>
          <p:nvPr>
            <p:ph idx="24" type="subTitle"/>
          </p:nvPr>
        </p:nvSpPr>
        <p:spPr>
          <a:xfrm>
            <a:off x="6148350" y="4322169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" name="Google Shape;107;p9"/>
          <p:cNvSpPr txBox="1"/>
          <p:nvPr>
            <p:ph idx="25" type="subTitle"/>
          </p:nvPr>
        </p:nvSpPr>
        <p:spPr>
          <a:xfrm>
            <a:off x="7612800" y="3892206"/>
            <a:ext cx="1258200" cy="1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9"/>
          <p:cNvSpPr txBox="1"/>
          <p:nvPr>
            <p:ph idx="26" type="subTitle"/>
          </p:nvPr>
        </p:nvSpPr>
        <p:spPr>
          <a:xfrm>
            <a:off x="7612800" y="4087691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9"/>
          <p:cNvSpPr txBox="1"/>
          <p:nvPr>
            <p:ph idx="27" type="subTitle"/>
          </p:nvPr>
        </p:nvSpPr>
        <p:spPr>
          <a:xfrm>
            <a:off x="7612775" y="4322169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10" name="Google Shape;110;p9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7 - One line title ">
  <p:cSld name="CUSTOM_4_1_1_1_1_1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/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3" name="Google Shape;113;p10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10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10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7 - Long title">
  <p:cSld name="CUSTOM_4_1_1_1_1_1_1">
    <p:bg>
      <p:bgPr>
        <a:solidFill>
          <a:schemeClr val="dk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/>
          <p:nvPr/>
        </p:nvSpPr>
        <p:spPr>
          <a:xfrm>
            <a:off x="6900" y="0"/>
            <a:ext cx="9137100" cy="5143500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chemeClr val="lt1"/>
              </a:gs>
              <a:gs pos="100000">
                <a:schemeClr val="dk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1"/>
          <p:cNvSpPr txBox="1"/>
          <p:nvPr/>
        </p:nvSpPr>
        <p:spPr>
          <a:xfrm>
            <a:off x="2844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11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11"/>
          <p:cNvSpPr txBox="1"/>
          <p:nvPr>
            <p:ph idx="1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1" name="Google Shape;121;p11"/>
          <p:cNvSpPr txBox="1"/>
          <p:nvPr>
            <p:ph idx="2" type="subTitle"/>
          </p:nvPr>
        </p:nvSpPr>
        <p:spPr>
          <a:xfrm>
            <a:off x="3026399" y="4388244"/>
            <a:ext cx="1205400" cy="3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1"/>
          <p:cNvSpPr txBox="1"/>
          <p:nvPr>
            <p:ph hasCustomPrompt="1" type="title"/>
          </p:nvPr>
        </p:nvSpPr>
        <p:spPr>
          <a:xfrm>
            <a:off x="3168497" y="3693228"/>
            <a:ext cx="1765500" cy="66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123" name="Google Shape;123;p11"/>
          <p:cNvSpPr txBox="1"/>
          <p:nvPr>
            <p:ph idx="3" type="title"/>
          </p:nvPr>
        </p:nvSpPr>
        <p:spPr>
          <a:xfrm>
            <a:off x="276528" y="832767"/>
            <a:ext cx="6417900" cy="1738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9pPr>
          </a:lstStyle>
          <a:p/>
        </p:txBody>
      </p:sp>
      <p:sp>
        <p:nvSpPr>
          <p:cNvPr id="124" name="Google Shape;124;p11"/>
          <p:cNvSpPr txBox="1"/>
          <p:nvPr>
            <p:ph hasCustomPrompt="1" idx="4" type="title"/>
          </p:nvPr>
        </p:nvSpPr>
        <p:spPr>
          <a:xfrm>
            <a:off x="4822300" y="3693225"/>
            <a:ext cx="1880400" cy="66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125" name="Google Shape;125;p11"/>
          <p:cNvSpPr txBox="1"/>
          <p:nvPr>
            <p:ph idx="5" type="subTitle"/>
          </p:nvPr>
        </p:nvSpPr>
        <p:spPr>
          <a:xfrm>
            <a:off x="4880113" y="4388244"/>
            <a:ext cx="1205400" cy="3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1"/>
          <p:cNvSpPr txBox="1"/>
          <p:nvPr>
            <p:ph idx="6" type="subTitle"/>
          </p:nvPr>
        </p:nvSpPr>
        <p:spPr>
          <a:xfrm>
            <a:off x="176425" y="3754475"/>
            <a:ext cx="1994700" cy="98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11"/>
          <p:cNvSpPr txBox="1"/>
          <p:nvPr>
            <p:ph idx="7" type="subTitle"/>
          </p:nvPr>
        </p:nvSpPr>
        <p:spPr>
          <a:xfrm>
            <a:off x="6641100" y="3863375"/>
            <a:ext cx="25029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8" name="Google Shape;128;p11"/>
          <p:cNvSpPr txBox="1"/>
          <p:nvPr>
            <p:ph idx="8" type="subTitle"/>
          </p:nvPr>
        </p:nvSpPr>
        <p:spPr>
          <a:xfrm>
            <a:off x="7728975" y="3863375"/>
            <a:ext cx="14151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9" name="Google Shape;129;p11"/>
          <p:cNvSpPr txBox="1"/>
          <p:nvPr>
            <p:ph idx="9" type="subTitle"/>
          </p:nvPr>
        </p:nvSpPr>
        <p:spPr>
          <a:xfrm>
            <a:off x="7067246" y="4307825"/>
            <a:ext cx="20769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0" name="Google Shape;130;p11"/>
          <p:cNvSpPr txBox="1"/>
          <p:nvPr>
            <p:ph idx="13" type="subTitle"/>
          </p:nvPr>
        </p:nvSpPr>
        <p:spPr>
          <a:xfrm>
            <a:off x="4933999" y="747975"/>
            <a:ext cx="39864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1"/>
          <p:cNvSpPr txBox="1"/>
          <p:nvPr>
            <p:ph idx="14" type="subTitle"/>
          </p:nvPr>
        </p:nvSpPr>
        <p:spPr>
          <a:xfrm>
            <a:off x="5157668" y="1229975"/>
            <a:ext cx="39864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11"/>
          <p:cNvSpPr txBox="1"/>
          <p:nvPr>
            <p:ph idx="15" type="subTitle"/>
          </p:nvPr>
        </p:nvSpPr>
        <p:spPr>
          <a:xfrm>
            <a:off x="4934004" y="1229970"/>
            <a:ext cx="39864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11"/>
          <p:cNvSpPr txBox="1"/>
          <p:nvPr>
            <p:ph idx="16" type="subTitle"/>
          </p:nvPr>
        </p:nvSpPr>
        <p:spPr>
          <a:xfrm>
            <a:off x="5157668" y="1527600"/>
            <a:ext cx="39864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1"/>
          <p:cNvSpPr txBox="1"/>
          <p:nvPr>
            <p:ph idx="17" type="subTitle"/>
          </p:nvPr>
        </p:nvSpPr>
        <p:spPr>
          <a:xfrm>
            <a:off x="4933999" y="1527600"/>
            <a:ext cx="39864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5" name="Google Shape;135;p11"/>
          <p:cNvSpPr txBox="1"/>
          <p:nvPr>
            <p:ph idx="18" type="subTitle"/>
          </p:nvPr>
        </p:nvSpPr>
        <p:spPr>
          <a:xfrm>
            <a:off x="5157668" y="1831200"/>
            <a:ext cx="39864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6" name="Google Shape;136;p11"/>
          <p:cNvSpPr txBox="1"/>
          <p:nvPr>
            <p:ph idx="19" type="subTitle"/>
          </p:nvPr>
        </p:nvSpPr>
        <p:spPr>
          <a:xfrm>
            <a:off x="4933999" y="1831200"/>
            <a:ext cx="39864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7" name="Google Shape;137;p11"/>
          <p:cNvSpPr txBox="1"/>
          <p:nvPr>
            <p:ph idx="20" type="title"/>
          </p:nvPr>
        </p:nvSpPr>
        <p:spPr>
          <a:xfrm>
            <a:off x="276528" y="1138207"/>
            <a:ext cx="6417900" cy="1738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Light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pic>
        <p:nvPicPr>
          <p:cNvPr id="138" name="Google Shape;138;p11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CUSTOM_6_1">
    <p:bg>
      <p:bgPr>
        <a:gradFill>
          <a:gsLst>
            <a:gs pos="0">
              <a:schemeClr val="accent1"/>
            </a:gs>
            <a:gs pos="56000">
              <a:schemeClr val="lt1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/>
          <p:nvPr/>
        </p:nvSpPr>
        <p:spPr>
          <a:xfrm>
            <a:off x="0" y="2074125"/>
            <a:ext cx="9144000" cy="306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12"/>
          <p:cNvSpPr txBox="1"/>
          <p:nvPr>
            <p:ph type="title"/>
          </p:nvPr>
        </p:nvSpPr>
        <p:spPr>
          <a:xfrm>
            <a:off x="288150" y="2601375"/>
            <a:ext cx="6417900" cy="24171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Light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2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12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4" name="Google Shape;144;p12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Findings">
  <p:cSld name="CUSTOM_7_1_1_1">
    <p:bg>
      <p:bgPr>
        <a:solidFill>
          <a:schemeClr val="dk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13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-6550" y="-1100"/>
            <a:ext cx="3714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13"/>
          <p:cNvSpPr txBox="1"/>
          <p:nvPr>
            <p:ph type="title"/>
          </p:nvPr>
        </p:nvSpPr>
        <p:spPr>
          <a:xfrm>
            <a:off x="277450" y="923825"/>
            <a:ext cx="2987700" cy="593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9pPr>
          </a:lstStyle>
          <a:p/>
        </p:txBody>
      </p:sp>
      <p:sp>
        <p:nvSpPr>
          <p:cNvPr id="151" name="Google Shape;151;p13"/>
          <p:cNvSpPr txBox="1"/>
          <p:nvPr>
            <p:ph idx="1" type="subTitle"/>
          </p:nvPr>
        </p:nvSpPr>
        <p:spPr>
          <a:xfrm>
            <a:off x="277450" y="615150"/>
            <a:ext cx="2987700" cy="1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3"/>
          <p:cNvSpPr txBox="1"/>
          <p:nvPr>
            <p:ph idx="2" type="subTitle"/>
          </p:nvPr>
        </p:nvSpPr>
        <p:spPr>
          <a:xfrm>
            <a:off x="4013550" y="561373"/>
            <a:ext cx="2987700" cy="2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3"/>
          <p:cNvSpPr txBox="1"/>
          <p:nvPr>
            <p:ph idx="3" type="subTitle"/>
          </p:nvPr>
        </p:nvSpPr>
        <p:spPr>
          <a:xfrm>
            <a:off x="4341300" y="1082075"/>
            <a:ext cx="4849500" cy="10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4" name="Google Shape;154;p13"/>
          <p:cNvSpPr txBox="1"/>
          <p:nvPr>
            <p:ph hasCustomPrompt="1" idx="4" type="title"/>
          </p:nvPr>
        </p:nvSpPr>
        <p:spPr>
          <a:xfrm>
            <a:off x="6797450" y="2617100"/>
            <a:ext cx="1765500" cy="66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155" name="Google Shape;155;p13"/>
          <p:cNvSpPr txBox="1"/>
          <p:nvPr>
            <p:ph hasCustomPrompt="1" idx="5" type="title"/>
          </p:nvPr>
        </p:nvSpPr>
        <p:spPr>
          <a:xfrm>
            <a:off x="4189575" y="2617100"/>
            <a:ext cx="1765500" cy="66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156" name="Google Shape;156;p13"/>
          <p:cNvSpPr txBox="1"/>
          <p:nvPr>
            <p:ph idx="6" type="subTitle"/>
          </p:nvPr>
        </p:nvSpPr>
        <p:spPr>
          <a:xfrm>
            <a:off x="3999850" y="4176775"/>
            <a:ext cx="2138100" cy="6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57" name="Google Shape;157;p13"/>
          <p:cNvSpPr txBox="1"/>
          <p:nvPr>
            <p:ph idx="7" type="subTitle"/>
          </p:nvPr>
        </p:nvSpPr>
        <p:spPr>
          <a:xfrm>
            <a:off x="4189575" y="3348875"/>
            <a:ext cx="1765500" cy="1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58" name="Google Shape;158;p13"/>
          <p:cNvSpPr txBox="1"/>
          <p:nvPr>
            <p:ph idx="8" type="subTitle"/>
          </p:nvPr>
        </p:nvSpPr>
        <p:spPr>
          <a:xfrm>
            <a:off x="6797450" y="3348875"/>
            <a:ext cx="1765500" cy="1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13"/>
          <p:cNvSpPr txBox="1"/>
          <p:nvPr>
            <p:ph idx="9" type="subTitle"/>
          </p:nvPr>
        </p:nvSpPr>
        <p:spPr>
          <a:xfrm>
            <a:off x="4053900" y="1082075"/>
            <a:ext cx="486000" cy="10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60" name="Google Shape;160;p13"/>
          <p:cNvSpPr txBox="1"/>
          <p:nvPr>
            <p:ph idx="13" type="subTitle"/>
          </p:nvPr>
        </p:nvSpPr>
        <p:spPr>
          <a:xfrm>
            <a:off x="4341300" y="1460445"/>
            <a:ext cx="4849500" cy="10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61" name="Google Shape;161;p13"/>
          <p:cNvSpPr txBox="1"/>
          <p:nvPr>
            <p:ph idx="14" type="subTitle"/>
          </p:nvPr>
        </p:nvSpPr>
        <p:spPr>
          <a:xfrm>
            <a:off x="4053900" y="1460445"/>
            <a:ext cx="486000" cy="10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62" name="Google Shape;162;p13"/>
          <p:cNvSpPr txBox="1"/>
          <p:nvPr>
            <p:ph idx="15" type="subTitle"/>
          </p:nvPr>
        </p:nvSpPr>
        <p:spPr>
          <a:xfrm>
            <a:off x="4341300" y="1840801"/>
            <a:ext cx="4849500" cy="10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63" name="Google Shape;163;p13"/>
          <p:cNvSpPr txBox="1"/>
          <p:nvPr>
            <p:ph idx="16" type="subTitle"/>
          </p:nvPr>
        </p:nvSpPr>
        <p:spPr>
          <a:xfrm>
            <a:off x="4053900" y="1840801"/>
            <a:ext cx="486000" cy="10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64" name="Google Shape;164;p13"/>
          <p:cNvSpPr txBox="1"/>
          <p:nvPr>
            <p:ph idx="17" type="subTitle"/>
          </p:nvPr>
        </p:nvSpPr>
        <p:spPr>
          <a:xfrm>
            <a:off x="6539262" y="3947400"/>
            <a:ext cx="12576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65" name="Google Shape;165;p13"/>
          <p:cNvSpPr txBox="1"/>
          <p:nvPr>
            <p:ph idx="18" type="subTitle"/>
          </p:nvPr>
        </p:nvSpPr>
        <p:spPr>
          <a:xfrm>
            <a:off x="7801698" y="3947400"/>
            <a:ext cx="12576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66" name="Google Shape;166;p13"/>
          <p:cNvSpPr txBox="1"/>
          <p:nvPr>
            <p:ph idx="19" type="subTitle"/>
          </p:nvPr>
        </p:nvSpPr>
        <p:spPr>
          <a:xfrm>
            <a:off x="6533000" y="4482875"/>
            <a:ext cx="2520000" cy="5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pic>
        <p:nvPicPr>
          <p:cNvPr id="167" name="Google Shape;167;p13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Header">
  <p:cSld name="CUSTOM_2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14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14"/>
          <p:cNvSpPr txBox="1"/>
          <p:nvPr>
            <p:ph idx="1" type="subTitle"/>
          </p:nvPr>
        </p:nvSpPr>
        <p:spPr>
          <a:xfrm>
            <a:off x="194920" y="2643283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72" name="Google Shape;172;p14"/>
          <p:cNvSpPr txBox="1"/>
          <p:nvPr>
            <p:ph idx="2" type="subTitle"/>
          </p:nvPr>
        </p:nvSpPr>
        <p:spPr>
          <a:xfrm>
            <a:off x="474545" y="3125283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73" name="Google Shape;173;p14"/>
          <p:cNvSpPr txBox="1"/>
          <p:nvPr>
            <p:ph idx="3" type="subTitle"/>
          </p:nvPr>
        </p:nvSpPr>
        <p:spPr>
          <a:xfrm>
            <a:off x="194920" y="3125283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74" name="Google Shape;174;p14"/>
          <p:cNvSpPr txBox="1"/>
          <p:nvPr>
            <p:ph idx="4" type="subTitle"/>
          </p:nvPr>
        </p:nvSpPr>
        <p:spPr>
          <a:xfrm>
            <a:off x="474545" y="3422908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75" name="Google Shape;175;p14"/>
          <p:cNvSpPr txBox="1"/>
          <p:nvPr>
            <p:ph idx="5" type="subTitle"/>
          </p:nvPr>
        </p:nvSpPr>
        <p:spPr>
          <a:xfrm>
            <a:off x="194920" y="3422908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76" name="Google Shape;176;p14"/>
          <p:cNvSpPr txBox="1"/>
          <p:nvPr>
            <p:ph idx="6" type="subTitle"/>
          </p:nvPr>
        </p:nvSpPr>
        <p:spPr>
          <a:xfrm>
            <a:off x="474545" y="3726508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77" name="Google Shape;177;p14"/>
          <p:cNvSpPr txBox="1"/>
          <p:nvPr>
            <p:ph idx="7" type="subTitle"/>
          </p:nvPr>
        </p:nvSpPr>
        <p:spPr>
          <a:xfrm>
            <a:off x="194920" y="3726508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78" name="Google Shape;178;p14"/>
          <p:cNvSpPr txBox="1"/>
          <p:nvPr>
            <p:ph idx="8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4"/>
          <p:cNvSpPr txBox="1"/>
          <p:nvPr>
            <p:ph type="title"/>
          </p:nvPr>
        </p:nvSpPr>
        <p:spPr>
          <a:xfrm>
            <a:off x="276526" y="832771"/>
            <a:ext cx="4206900" cy="771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9pPr>
          </a:lstStyle>
          <a:p/>
        </p:txBody>
      </p:sp>
      <p:sp>
        <p:nvSpPr>
          <p:cNvPr id="180" name="Google Shape;180;p14"/>
          <p:cNvSpPr txBox="1"/>
          <p:nvPr>
            <p:ph idx="9" type="title"/>
          </p:nvPr>
        </p:nvSpPr>
        <p:spPr>
          <a:xfrm>
            <a:off x="276525" y="1138205"/>
            <a:ext cx="6013200" cy="573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Light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81" name="Google Shape;181;p14"/>
          <p:cNvSpPr txBox="1"/>
          <p:nvPr>
            <p:ph idx="13" type="subTitle"/>
          </p:nvPr>
        </p:nvSpPr>
        <p:spPr>
          <a:xfrm>
            <a:off x="6289775" y="3863375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82" name="Google Shape;182;p14"/>
          <p:cNvSpPr txBox="1"/>
          <p:nvPr>
            <p:ph idx="14" type="subTitle"/>
          </p:nvPr>
        </p:nvSpPr>
        <p:spPr>
          <a:xfrm>
            <a:off x="7377650" y="3863375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83" name="Google Shape;183;p14"/>
          <p:cNvSpPr txBox="1"/>
          <p:nvPr>
            <p:ph idx="15" type="subTitle"/>
          </p:nvPr>
        </p:nvSpPr>
        <p:spPr>
          <a:xfrm>
            <a:off x="6715919" y="4307825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84" name="Google Shape;184;p14"/>
          <p:cNvSpPr txBox="1"/>
          <p:nvPr>
            <p:ph idx="16" type="subTitle"/>
          </p:nvPr>
        </p:nvSpPr>
        <p:spPr>
          <a:xfrm>
            <a:off x="4209333" y="4565962"/>
            <a:ext cx="1205400" cy="3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85" name="Google Shape;185;p14"/>
          <p:cNvSpPr txBox="1"/>
          <p:nvPr>
            <p:ph hasCustomPrompt="1" idx="17" type="title"/>
          </p:nvPr>
        </p:nvSpPr>
        <p:spPr>
          <a:xfrm>
            <a:off x="4168502" y="3828450"/>
            <a:ext cx="1765500" cy="66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186" name="Google Shape;186;p14"/>
          <p:cNvSpPr txBox="1"/>
          <p:nvPr>
            <p:ph idx="18" type="subTitle"/>
          </p:nvPr>
        </p:nvSpPr>
        <p:spPr>
          <a:xfrm>
            <a:off x="4122034" y="2405891"/>
            <a:ext cx="1551900" cy="6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87" name="Google Shape;187;p14"/>
          <p:cNvSpPr txBox="1"/>
          <p:nvPr>
            <p:ph idx="19" type="subTitle"/>
          </p:nvPr>
        </p:nvSpPr>
        <p:spPr>
          <a:xfrm>
            <a:off x="6766059" y="2140666"/>
            <a:ext cx="1994700" cy="98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pic>
        <p:nvPicPr>
          <p:cNvPr id="188" name="Google Shape;188;p14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10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/>
          <p:nvPr/>
        </p:nvSpPr>
        <p:spPr>
          <a:xfrm flipH="1" rot="10800000">
            <a:off x="-28650" y="0"/>
            <a:ext cx="3019200" cy="51564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15"/>
          <p:cNvSpPr txBox="1"/>
          <p:nvPr>
            <p:ph type="title"/>
          </p:nvPr>
        </p:nvSpPr>
        <p:spPr>
          <a:xfrm>
            <a:off x="296550" y="850675"/>
            <a:ext cx="2279700" cy="1726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/>
        </p:txBody>
      </p:sp>
      <p:sp>
        <p:nvSpPr>
          <p:cNvPr id="192" name="Google Shape;192;p15"/>
          <p:cNvSpPr txBox="1"/>
          <p:nvPr>
            <p:ph idx="1" type="subTitle"/>
          </p:nvPr>
        </p:nvSpPr>
        <p:spPr>
          <a:xfrm>
            <a:off x="3851725" y="850675"/>
            <a:ext cx="5013900" cy="4067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Inter Light"/>
              <a:buNone/>
              <a:defRPr sz="2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93" name="Google Shape;193;p15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15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5" name="Google Shape;195;p15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1">
    <p:bg>
      <p:bgPr>
        <a:solidFill>
          <a:schemeClr val="dk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 txBox="1"/>
          <p:nvPr>
            <p:ph idx="1" type="subTitle"/>
          </p:nvPr>
        </p:nvSpPr>
        <p:spPr>
          <a:xfrm>
            <a:off x="284400" y="2149316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2" type="subTitle"/>
          </p:nvPr>
        </p:nvSpPr>
        <p:spPr>
          <a:xfrm>
            <a:off x="3356100" y="2149316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16"/>
          <p:cNvSpPr txBox="1"/>
          <p:nvPr>
            <p:ph idx="3" type="subTitle"/>
          </p:nvPr>
        </p:nvSpPr>
        <p:spPr>
          <a:xfrm>
            <a:off x="6413584" y="2149316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16"/>
          <p:cNvSpPr txBox="1"/>
          <p:nvPr>
            <p:ph idx="4" type="body"/>
          </p:nvPr>
        </p:nvSpPr>
        <p:spPr>
          <a:xfrm>
            <a:off x="284400" y="2950425"/>
            <a:ext cx="2450700" cy="190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1" name="Google Shape;201;p16"/>
          <p:cNvSpPr txBox="1"/>
          <p:nvPr>
            <p:ph idx="5" type="body"/>
          </p:nvPr>
        </p:nvSpPr>
        <p:spPr>
          <a:xfrm>
            <a:off x="3356096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2" name="Google Shape;202;p16"/>
          <p:cNvSpPr txBox="1"/>
          <p:nvPr>
            <p:ph idx="6" type="body"/>
          </p:nvPr>
        </p:nvSpPr>
        <p:spPr>
          <a:xfrm>
            <a:off x="6413576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3" name="Google Shape;203;p16"/>
          <p:cNvSpPr/>
          <p:nvPr/>
        </p:nvSpPr>
        <p:spPr>
          <a:xfrm>
            <a:off x="2175" y="-25"/>
            <a:ext cx="9144000" cy="174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16"/>
          <p:cNvSpPr txBox="1"/>
          <p:nvPr>
            <p:ph type="title"/>
          </p:nvPr>
        </p:nvSpPr>
        <p:spPr>
          <a:xfrm>
            <a:off x="284400" y="828727"/>
            <a:ext cx="6418200" cy="7137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5" name="Google Shape;205;p16"/>
          <p:cNvSpPr txBox="1"/>
          <p:nvPr>
            <p:ph idx="7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6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16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8" name="Google Shape;208;p16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20_1_1">
    <p:bg>
      <p:bgPr>
        <a:solidFill>
          <a:schemeClr val="dk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/>
          <p:nvPr/>
        </p:nvSpPr>
        <p:spPr>
          <a:xfrm>
            <a:off x="2175" y="-25"/>
            <a:ext cx="9144000" cy="174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" name="Google Shape;211;p17"/>
          <p:cNvSpPr txBox="1"/>
          <p:nvPr>
            <p:ph idx="1" type="subTitle"/>
          </p:nvPr>
        </p:nvSpPr>
        <p:spPr>
          <a:xfrm>
            <a:off x="284400" y="2149316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7"/>
          <p:cNvSpPr txBox="1"/>
          <p:nvPr>
            <p:ph idx="2" type="subTitle"/>
          </p:nvPr>
        </p:nvSpPr>
        <p:spPr>
          <a:xfrm>
            <a:off x="3356100" y="2149316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17"/>
          <p:cNvSpPr txBox="1"/>
          <p:nvPr>
            <p:ph idx="3" type="subTitle"/>
          </p:nvPr>
        </p:nvSpPr>
        <p:spPr>
          <a:xfrm>
            <a:off x="6413575" y="2149325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17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17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17"/>
          <p:cNvSpPr txBox="1"/>
          <p:nvPr>
            <p:ph type="title"/>
          </p:nvPr>
        </p:nvSpPr>
        <p:spPr>
          <a:xfrm>
            <a:off x="284400" y="828727"/>
            <a:ext cx="6418200" cy="7137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17" name="Google Shape;217;p17"/>
          <p:cNvSpPr txBox="1"/>
          <p:nvPr>
            <p:ph idx="4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17"/>
          <p:cNvSpPr txBox="1"/>
          <p:nvPr>
            <p:ph idx="5" type="body"/>
          </p:nvPr>
        </p:nvSpPr>
        <p:spPr>
          <a:xfrm>
            <a:off x="277450" y="4432425"/>
            <a:ext cx="2451300" cy="47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9" name="Google Shape;219;p17"/>
          <p:cNvSpPr txBox="1"/>
          <p:nvPr>
            <p:ph idx="6" type="subTitle"/>
          </p:nvPr>
        </p:nvSpPr>
        <p:spPr>
          <a:xfrm>
            <a:off x="277450" y="3941600"/>
            <a:ext cx="2392500" cy="188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20" name="Google Shape;220;p17"/>
          <p:cNvSpPr txBox="1"/>
          <p:nvPr>
            <p:ph idx="7" type="subTitle"/>
          </p:nvPr>
        </p:nvSpPr>
        <p:spPr>
          <a:xfrm>
            <a:off x="284700" y="3798725"/>
            <a:ext cx="2392500" cy="1056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17"/>
          <p:cNvSpPr txBox="1"/>
          <p:nvPr>
            <p:ph idx="8" type="body"/>
          </p:nvPr>
        </p:nvSpPr>
        <p:spPr>
          <a:xfrm>
            <a:off x="3348563" y="4432425"/>
            <a:ext cx="24513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2" name="Google Shape;222;p17"/>
          <p:cNvSpPr txBox="1"/>
          <p:nvPr>
            <p:ph idx="9" type="subTitle"/>
          </p:nvPr>
        </p:nvSpPr>
        <p:spPr>
          <a:xfrm>
            <a:off x="3348563" y="3941600"/>
            <a:ext cx="2392500" cy="188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23" name="Google Shape;223;p17"/>
          <p:cNvSpPr txBox="1"/>
          <p:nvPr>
            <p:ph idx="13" type="subTitle"/>
          </p:nvPr>
        </p:nvSpPr>
        <p:spPr>
          <a:xfrm>
            <a:off x="3355813" y="3798725"/>
            <a:ext cx="2392500" cy="1056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p17"/>
          <p:cNvSpPr txBox="1"/>
          <p:nvPr>
            <p:ph idx="14" type="body"/>
          </p:nvPr>
        </p:nvSpPr>
        <p:spPr>
          <a:xfrm>
            <a:off x="6434538" y="4432425"/>
            <a:ext cx="24513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5" name="Google Shape;225;p17"/>
          <p:cNvSpPr txBox="1"/>
          <p:nvPr>
            <p:ph idx="15" type="subTitle"/>
          </p:nvPr>
        </p:nvSpPr>
        <p:spPr>
          <a:xfrm>
            <a:off x="6434538" y="3941600"/>
            <a:ext cx="2392500" cy="188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26" name="Google Shape;226;p17"/>
          <p:cNvSpPr txBox="1"/>
          <p:nvPr>
            <p:ph idx="16" type="subTitle"/>
          </p:nvPr>
        </p:nvSpPr>
        <p:spPr>
          <a:xfrm>
            <a:off x="6441788" y="3798725"/>
            <a:ext cx="2392500" cy="1056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27" name="Google Shape;227;p17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1">
  <p:cSld name="CUSTOM_19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/>
          <p:nvPr/>
        </p:nvSpPr>
        <p:spPr>
          <a:xfrm rot="10800000">
            <a:off x="2994200" y="-1500"/>
            <a:ext cx="3078000" cy="25770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6073500" y="2574000"/>
            <a:ext cx="3074700" cy="2569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18"/>
          <p:cNvSpPr/>
          <p:nvPr/>
        </p:nvSpPr>
        <p:spPr>
          <a:xfrm rot="5400000">
            <a:off x="6324925" y="-250900"/>
            <a:ext cx="2569500" cy="30747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18"/>
          <p:cNvSpPr/>
          <p:nvPr/>
        </p:nvSpPr>
        <p:spPr>
          <a:xfrm rot="-5400000">
            <a:off x="3253050" y="2320675"/>
            <a:ext cx="2568600" cy="30741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18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18"/>
          <p:cNvSpPr txBox="1"/>
          <p:nvPr>
            <p:ph type="title"/>
          </p:nvPr>
        </p:nvSpPr>
        <p:spPr>
          <a:xfrm>
            <a:off x="284400" y="1253833"/>
            <a:ext cx="2373000" cy="979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36" name="Google Shape;236;p18"/>
          <p:cNvSpPr txBox="1"/>
          <p:nvPr>
            <p:ph idx="1" type="subTitle"/>
          </p:nvPr>
        </p:nvSpPr>
        <p:spPr>
          <a:xfrm>
            <a:off x="284400" y="877725"/>
            <a:ext cx="2373000" cy="2976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7" name="Google Shape;237;p18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3">
  <p:cSld name="CUSTOM_19_1_1_2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19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19"/>
          <p:cNvSpPr txBox="1"/>
          <p:nvPr>
            <p:ph idx="1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9"/>
          <p:cNvSpPr txBox="1"/>
          <p:nvPr>
            <p:ph type="title"/>
          </p:nvPr>
        </p:nvSpPr>
        <p:spPr>
          <a:xfrm>
            <a:off x="284400" y="828725"/>
            <a:ext cx="4255500" cy="7137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3" name="Google Shape;243;p19"/>
          <p:cNvSpPr txBox="1"/>
          <p:nvPr>
            <p:ph idx="2" type="body"/>
          </p:nvPr>
        </p:nvSpPr>
        <p:spPr>
          <a:xfrm>
            <a:off x="284700" y="3003739"/>
            <a:ext cx="3929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44" name="Google Shape;244;p19"/>
          <p:cNvSpPr txBox="1"/>
          <p:nvPr>
            <p:ph idx="3" type="body"/>
          </p:nvPr>
        </p:nvSpPr>
        <p:spPr>
          <a:xfrm>
            <a:off x="284700" y="1702121"/>
            <a:ext cx="3929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45" name="Google Shape;245;p19"/>
          <p:cNvSpPr txBox="1"/>
          <p:nvPr>
            <p:ph idx="4" type="body"/>
          </p:nvPr>
        </p:nvSpPr>
        <p:spPr>
          <a:xfrm>
            <a:off x="6461050" y="3446400"/>
            <a:ext cx="23958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46" name="Google Shape;246;p19"/>
          <p:cNvSpPr txBox="1"/>
          <p:nvPr>
            <p:ph idx="5" type="subTitle"/>
          </p:nvPr>
        </p:nvSpPr>
        <p:spPr>
          <a:xfrm>
            <a:off x="6458825" y="3045908"/>
            <a:ext cx="23958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7" name="Google Shape;247;p19"/>
          <p:cNvSpPr txBox="1"/>
          <p:nvPr>
            <p:ph idx="6" type="body"/>
          </p:nvPr>
        </p:nvSpPr>
        <p:spPr>
          <a:xfrm>
            <a:off x="6459638" y="1001054"/>
            <a:ext cx="239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48" name="Google Shape;248;p19"/>
          <p:cNvSpPr txBox="1"/>
          <p:nvPr>
            <p:ph idx="7" type="subTitle"/>
          </p:nvPr>
        </p:nvSpPr>
        <p:spPr>
          <a:xfrm>
            <a:off x="6457413" y="600561"/>
            <a:ext cx="23958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9" name="Google Shape;249;p19"/>
          <p:cNvSpPr txBox="1"/>
          <p:nvPr>
            <p:ph idx="8" type="subTitle"/>
          </p:nvPr>
        </p:nvSpPr>
        <p:spPr>
          <a:xfrm>
            <a:off x="2436894" y="3751933"/>
            <a:ext cx="2092500" cy="1329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250" name="Google Shape;250;p19"/>
          <p:cNvSpPr txBox="1"/>
          <p:nvPr>
            <p:ph idx="9" type="subTitle"/>
          </p:nvPr>
        </p:nvSpPr>
        <p:spPr>
          <a:xfrm>
            <a:off x="268019" y="3751933"/>
            <a:ext cx="1729500" cy="1329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251" name="Google Shape;251;p19"/>
          <p:cNvSpPr txBox="1"/>
          <p:nvPr>
            <p:ph idx="13" type="subTitle"/>
          </p:nvPr>
        </p:nvSpPr>
        <p:spPr>
          <a:xfrm>
            <a:off x="284400" y="3514525"/>
            <a:ext cx="17751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9"/>
          <p:cNvSpPr txBox="1"/>
          <p:nvPr>
            <p:ph idx="14" type="subTitle"/>
          </p:nvPr>
        </p:nvSpPr>
        <p:spPr>
          <a:xfrm>
            <a:off x="2446325" y="3514525"/>
            <a:ext cx="17751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3" name="Google Shape;253;p19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items">
  <p:cSld name="CUSTOM_19_1_1_1_2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/>
          <p:nvPr/>
        </p:nvSpPr>
        <p:spPr>
          <a:xfrm flipH="1" rot="10800000">
            <a:off x="-28650" y="0"/>
            <a:ext cx="3019200" cy="51564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20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20"/>
          <p:cNvSpPr txBox="1"/>
          <p:nvPr>
            <p:ph type="title"/>
          </p:nvPr>
        </p:nvSpPr>
        <p:spPr>
          <a:xfrm>
            <a:off x="284400" y="1253833"/>
            <a:ext cx="2373000" cy="979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59" name="Google Shape;259;p20"/>
          <p:cNvSpPr txBox="1"/>
          <p:nvPr>
            <p:ph idx="1" type="subTitle"/>
          </p:nvPr>
        </p:nvSpPr>
        <p:spPr>
          <a:xfrm>
            <a:off x="284400" y="877725"/>
            <a:ext cx="2373000" cy="2976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" name="Google Shape;260;p20"/>
          <p:cNvSpPr txBox="1"/>
          <p:nvPr>
            <p:ph idx="2" type="body"/>
          </p:nvPr>
        </p:nvSpPr>
        <p:spPr>
          <a:xfrm>
            <a:off x="5759125" y="3838034"/>
            <a:ext cx="26910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61" name="Google Shape;261;p20"/>
          <p:cNvSpPr txBox="1"/>
          <p:nvPr>
            <p:ph idx="3" type="body"/>
          </p:nvPr>
        </p:nvSpPr>
        <p:spPr>
          <a:xfrm>
            <a:off x="5759125" y="2881253"/>
            <a:ext cx="2691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62" name="Google Shape;262;p20"/>
          <p:cNvSpPr txBox="1"/>
          <p:nvPr>
            <p:ph idx="4" type="body"/>
          </p:nvPr>
        </p:nvSpPr>
        <p:spPr>
          <a:xfrm>
            <a:off x="5759125" y="1924478"/>
            <a:ext cx="2691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63" name="Google Shape;263;p20"/>
          <p:cNvSpPr txBox="1"/>
          <p:nvPr>
            <p:ph idx="5" type="body"/>
          </p:nvPr>
        </p:nvSpPr>
        <p:spPr>
          <a:xfrm>
            <a:off x="5759125" y="967703"/>
            <a:ext cx="2691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64" name="Google Shape;264;p20"/>
          <p:cNvSpPr txBox="1"/>
          <p:nvPr>
            <p:ph idx="6" type="subTitle"/>
          </p:nvPr>
        </p:nvSpPr>
        <p:spPr>
          <a:xfrm>
            <a:off x="3562875" y="967700"/>
            <a:ext cx="14286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20"/>
          <p:cNvSpPr txBox="1"/>
          <p:nvPr>
            <p:ph idx="7" type="subTitle"/>
          </p:nvPr>
        </p:nvSpPr>
        <p:spPr>
          <a:xfrm>
            <a:off x="3562875" y="1924475"/>
            <a:ext cx="14286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20"/>
          <p:cNvSpPr txBox="1"/>
          <p:nvPr>
            <p:ph idx="8" type="subTitle"/>
          </p:nvPr>
        </p:nvSpPr>
        <p:spPr>
          <a:xfrm>
            <a:off x="3562875" y="2881250"/>
            <a:ext cx="14286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7" name="Google Shape;267;p20"/>
          <p:cNvSpPr txBox="1"/>
          <p:nvPr>
            <p:ph idx="9" type="subTitle"/>
          </p:nvPr>
        </p:nvSpPr>
        <p:spPr>
          <a:xfrm>
            <a:off x="3562875" y="3838025"/>
            <a:ext cx="14286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68" name="Google Shape;268;p20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6">
  <p:cSld name="CUSTOM_19_1_1_1_1_1_2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Google Shape;271;p21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1"/>
          <p:cNvSpPr txBox="1"/>
          <p:nvPr>
            <p:ph idx="1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3" name="Google Shape;273;p21"/>
          <p:cNvSpPr txBox="1"/>
          <p:nvPr>
            <p:ph type="title"/>
          </p:nvPr>
        </p:nvSpPr>
        <p:spPr>
          <a:xfrm>
            <a:off x="284400" y="828725"/>
            <a:ext cx="4255500" cy="7137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4" name="Google Shape;274;p21"/>
          <p:cNvSpPr txBox="1"/>
          <p:nvPr>
            <p:ph idx="2" type="body"/>
          </p:nvPr>
        </p:nvSpPr>
        <p:spPr>
          <a:xfrm>
            <a:off x="279675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5" name="Google Shape;275;p21"/>
          <p:cNvSpPr txBox="1"/>
          <p:nvPr>
            <p:ph idx="3" type="subTitle"/>
          </p:nvPr>
        </p:nvSpPr>
        <p:spPr>
          <a:xfrm>
            <a:off x="277438" y="3118564"/>
            <a:ext cx="23958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6" name="Google Shape;276;p21"/>
          <p:cNvSpPr txBox="1"/>
          <p:nvPr>
            <p:ph idx="4" type="body"/>
          </p:nvPr>
        </p:nvSpPr>
        <p:spPr>
          <a:xfrm>
            <a:off x="3345250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7" name="Google Shape;277;p21"/>
          <p:cNvSpPr txBox="1"/>
          <p:nvPr>
            <p:ph idx="5" type="subTitle"/>
          </p:nvPr>
        </p:nvSpPr>
        <p:spPr>
          <a:xfrm>
            <a:off x="3343013" y="3118564"/>
            <a:ext cx="23958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8" name="Google Shape;278;p21"/>
          <p:cNvSpPr txBox="1"/>
          <p:nvPr>
            <p:ph idx="6" type="body"/>
          </p:nvPr>
        </p:nvSpPr>
        <p:spPr>
          <a:xfrm>
            <a:off x="6413050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9" name="Google Shape;279;p21"/>
          <p:cNvSpPr txBox="1"/>
          <p:nvPr>
            <p:ph idx="7" type="subTitle"/>
          </p:nvPr>
        </p:nvSpPr>
        <p:spPr>
          <a:xfrm>
            <a:off x="6410813" y="3118564"/>
            <a:ext cx="23958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0" name="Google Shape;280;p21"/>
          <p:cNvSpPr txBox="1"/>
          <p:nvPr>
            <p:ph idx="8" type="body"/>
          </p:nvPr>
        </p:nvSpPr>
        <p:spPr>
          <a:xfrm>
            <a:off x="284700" y="1702121"/>
            <a:ext cx="3929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81" name="Google Shape;281;p21"/>
          <p:cNvSpPr txBox="1"/>
          <p:nvPr>
            <p:ph idx="9" type="body"/>
          </p:nvPr>
        </p:nvSpPr>
        <p:spPr>
          <a:xfrm>
            <a:off x="4936000" y="927350"/>
            <a:ext cx="3929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82" name="Google Shape;282;p21"/>
          <p:cNvSpPr txBox="1"/>
          <p:nvPr>
            <p:ph idx="13" type="subTitle"/>
          </p:nvPr>
        </p:nvSpPr>
        <p:spPr>
          <a:xfrm>
            <a:off x="4936000" y="1486039"/>
            <a:ext cx="16467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3" name="Google Shape;283;p21"/>
          <p:cNvSpPr txBox="1"/>
          <p:nvPr>
            <p:ph idx="14" type="subTitle"/>
          </p:nvPr>
        </p:nvSpPr>
        <p:spPr>
          <a:xfrm>
            <a:off x="4926575" y="1612925"/>
            <a:ext cx="1392000" cy="775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4" name="Google Shape;284;p21"/>
          <p:cNvSpPr txBox="1"/>
          <p:nvPr>
            <p:ph idx="15" type="subTitle"/>
          </p:nvPr>
        </p:nvSpPr>
        <p:spPr>
          <a:xfrm>
            <a:off x="6537700" y="1486039"/>
            <a:ext cx="16467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5" name="Google Shape;285;p21"/>
          <p:cNvSpPr txBox="1"/>
          <p:nvPr>
            <p:ph idx="16" type="subTitle"/>
          </p:nvPr>
        </p:nvSpPr>
        <p:spPr>
          <a:xfrm>
            <a:off x="6528275" y="1612925"/>
            <a:ext cx="1392000" cy="775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86" name="Google Shape;286;p21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8">
  <p:cSld name="CUSTOM_19_1_1_1_1_1_1_1_1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9" name="Google Shape;289;p22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22"/>
          <p:cNvSpPr txBox="1"/>
          <p:nvPr>
            <p:ph idx="1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22"/>
          <p:cNvSpPr txBox="1"/>
          <p:nvPr>
            <p:ph type="title"/>
          </p:nvPr>
        </p:nvSpPr>
        <p:spPr>
          <a:xfrm>
            <a:off x="284400" y="828725"/>
            <a:ext cx="4255500" cy="7137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2" name="Google Shape;292;p22"/>
          <p:cNvSpPr txBox="1"/>
          <p:nvPr>
            <p:ph idx="2" type="body"/>
          </p:nvPr>
        </p:nvSpPr>
        <p:spPr>
          <a:xfrm>
            <a:off x="284700" y="1702121"/>
            <a:ext cx="3929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93" name="Google Shape;293;p22"/>
          <p:cNvSpPr txBox="1"/>
          <p:nvPr>
            <p:ph idx="3" type="body"/>
          </p:nvPr>
        </p:nvSpPr>
        <p:spPr>
          <a:xfrm>
            <a:off x="279675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94" name="Google Shape;294;p22"/>
          <p:cNvSpPr txBox="1"/>
          <p:nvPr>
            <p:ph idx="4" type="subTitle"/>
          </p:nvPr>
        </p:nvSpPr>
        <p:spPr>
          <a:xfrm>
            <a:off x="277438" y="3118564"/>
            <a:ext cx="23958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5" name="Google Shape;295;p22"/>
          <p:cNvSpPr txBox="1"/>
          <p:nvPr>
            <p:ph idx="5" type="body"/>
          </p:nvPr>
        </p:nvSpPr>
        <p:spPr>
          <a:xfrm>
            <a:off x="3345250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96" name="Google Shape;296;p22"/>
          <p:cNvSpPr txBox="1"/>
          <p:nvPr>
            <p:ph idx="6" type="subTitle"/>
          </p:nvPr>
        </p:nvSpPr>
        <p:spPr>
          <a:xfrm>
            <a:off x="3343013" y="3118564"/>
            <a:ext cx="23958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7" name="Google Shape;297;p22"/>
          <p:cNvSpPr txBox="1"/>
          <p:nvPr>
            <p:ph idx="7" type="subTitle"/>
          </p:nvPr>
        </p:nvSpPr>
        <p:spPr>
          <a:xfrm>
            <a:off x="6465150" y="3948989"/>
            <a:ext cx="16467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8" name="Google Shape;298;p22"/>
          <p:cNvSpPr txBox="1"/>
          <p:nvPr>
            <p:ph idx="8" type="subTitle"/>
          </p:nvPr>
        </p:nvSpPr>
        <p:spPr>
          <a:xfrm>
            <a:off x="6455725" y="4075875"/>
            <a:ext cx="1392000" cy="775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2"/>
          <p:cNvSpPr txBox="1"/>
          <p:nvPr>
            <p:ph idx="9" type="subTitle"/>
          </p:nvPr>
        </p:nvSpPr>
        <p:spPr>
          <a:xfrm>
            <a:off x="6474575" y="2749851"/>
            <a:ext cx="16467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00" name="Google Shape;300;p22"/>
          <p:cNvSpPr txBox="1"/>
          <p:nvPr>
            <p:ph idx="13" type="subTitle"/>
          </p:nvPr>
        </p:nvSpPr>
        <p:spPr>
          <a:xfrm>
            <a:off x="6465150" y="2876738"/>
            <a:ext cx="1392000" cy="775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1" name="Google Shape;301;p22"/>
          <p:cNvSpPr txBox="1"/>
          <p:nvPr>
            <p:ph idx="14" type="subTitle"/>
          </p:nvPr>
        </p:nvSpPr>
        <p:spPr>
          <a:xfrm>
            <a:off x="6469863" y="1550714"/>
            <a:ext cx="16467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02" name="Google Shape;302;p22"/>
          <p:cNvSpPr txBox="1"/>
          <p:nvPr>
            <p:ph idx="15" type="subTitle"/>
          </p:nvPr>
        </p:nvSpPr>
        <p:spPr>
          <a:xfrm>
            <a:off x="6460438" y="1677600"/>
            <a:ext cx="1392000" cy="775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3" name="Google Shape;303;p22"/>
          <p:cNvSpPr txBox="1"/>
          <p:nvPr>
            <p:ph idx="16" type="body"/>
          </p:nvPr>
        </p:nvSpPr>
        <p:spPr>
          <a:xfrm>
            <a:off x="6455725" y="927350"/>
            <a:ext cx="2409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pic>
        <p:nvPicPr>
          <p:cNvPr id="304" name="Google Shape;304;p22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07" name="Google Shape;307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308" name="Google Shape;308;p23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pic>
        <p:nvPicPr>
          <p:cNvPr id="311" name="Google Shape;311;p24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4" name="Google Shape;31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315" name="Google Shape;315;p25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8" name="Google Shape;318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9" name="Google Shape;319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pic>
        <p:nvPicPr>
          <p:cNvPr id="320" name="Google Shape;320;p26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323" name="Google Shape;323;p27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26" name="Google Shape;326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327" name="Google Shape;327;p28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pic>
        <p:nvPicPr>
          <p:cNvPr id="330" name="Google Shape;330;p29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33" name="Google Shape;333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4" name="Google Shape;334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335" name="Google Shape;335;p30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pic>
        <p:nvPicPr>
          <p:cNvPr id="338" name="Google Shape;338;p31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1" name="Google Shape;341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342" name="Google Shape;342;p32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3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9" name="Google Shape;349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1" name="Google Shape;351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2" name="Google Shape;352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pic>
        <p:nvPicPr>
          <p:cNvPr id="353" name="Google Shape;353;p34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6" name="Google Shape;356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7" name="Google Shape;357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pic>
        <p:nvPicPr>
          <p:cNvPr id="358" name="Google Shape;358;p35" title="Banner02-2026-1536x6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81100" y="64025"/>
            <a:ext cx="1867899" cy="8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3" name="Google Shape;363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7" name="Google Shape;367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8" name="Google Shape;36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69" name="Google Shape;369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1" name="Google Shape;371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2" name="Google Shape;372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6" name="Google Shape;376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7" name="Google Shape;377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8" name="Google Shape;378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79" name="Google Shape;379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1" name="Google Shape;381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2" name="Google Shape;382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5" name="Google Shape;385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8" name="Google Shape;388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1" name="Google Shape;39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2" name="Google Shape;392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3" name="Google Shape;393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6" name="Google Shape;396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9" name="Google Shape;399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1" name="Google Shape;40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2" name="Google Shape;402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3" name="Google Shape;403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4" name="Google Shape;404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1" name="Google Shape;411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5" name="Google Shape;415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7" name="Google Shape;417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2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1783150"/>
            <a:ext cx="6480300" cy="30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pos="5585">
          <p15:clr>
            <a:srgbClr val="E46962"/>
          </p15:clr>
        </p15:guide>
        <p15:guide id="3" orient="horz" pos="870">
          <p15:clr>
            <a:srgbClr val="E46962"/>
          </p15:clr>
        </p15:guide>
        <p15:guide id="4" pos="1497">
          <p15:clr>
            <a:srgbClr val="E46962"/>
          </p15:clr>
        </p15:guide>
        <p15:guide id="5" pos="1541">
          <p15:clr>
            <a:srgbClr val="E46962"/>
          </p15:clr>
        </p15:guide>
        <p15:guide id="6" pos="2860">
          <p15:clr>
            <a:srgbClr val="E46962"/>
          </p15:clr>
        </p15:guide>
        <p15:guide id="7" pos="2900">
          <p15:clr>
            <a:srgbClr val="E46962"/>
          </p15:clr>
        </p15:guide>
        <p15:guide id="8" pos="4222">
          <p15:clr>
            <a:srgbClr val="E46962"/>
          </p15:clr>
        </p15:guide>
        <p15:guide id="9" pos="4262">
          <p15:clr>
            <a:srgbClr val="E46962"/>
          </p15:clr>
        </p15:guide>
        <p15:guide id="10" orient="horz" pos="154">
          <p15:clr>
            <a:srgbClr val="E46962"/>
          </p15:clr>
        </p15:guide>
        <p15:guide id="11" orient="horz" pos="30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4"/>
          <p:cNvSpPr txBox="1"/>
          <p:nvPr>
            <p:ph type="title"/>
          </p:nvPr>
        </p:nvSpPr>
        <p:spPr>
          <a:xfrm>
            <a:off x="277450" y="1699599"/>
            <a:ext cx="7711800" cy="13797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0487A"/>
                </a:solidFill>
              </a:rPr>
              <a:t>Spectral Attention-Enhanced HybridSN with</a:t>
            </a:r>
            <a:endParaRPr b="1" sz="2800">
              <a:solidFill>
                <a:srgbClr val="10487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0487A"/>
                </a:solidFill>
              </a:rPr>
              <a:t>Multi-Objective Loss for Underwater Habitat</a:t>
            </a:r>
            <a:endParaRPr b="1" sz="2800">
              <a:solidFill>
                <a:srgbClr val="10487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0487A"/>
                </a:solidFill>
              </a:rPr>
              <a:t>Segmentation from Hyperspectral Imagery</a:t>
            </a:r>
            <a:endParaRPr b="1" sz="2800">
              <a:solidFill>
                <a:srgbClr val="10487A"/>
              </a:solidFill>
            </a:endParaRPr>
          </a:p>
        </p:txBody>
      </p:sp>
      <p:sp>
        <p:nvSpPr>
          <p:cNvPr id="423" name="Google Shape;423;p44"/>
          <p:cNvSpPr txBox="1"/>
          <p:nvPr>
            <p:ph idx="4294967295" type="subTitle"/>
          </p:nvPr>
        </p:nvSpPr>
        <p:spPr>
          <a:xfrm>
            <a:off x="269290" y="4578117"/>
            <a:ext cx="6302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0487A"/>
                </a:solidFill>
              </a:rPr>
              <a:t>5025211084@student.its.ac.id</a:t>
            </a:r>
            <a:endParaRPr sz="1200">
              <a:solidFill>
                <a:srgbClr val="10487A"/>
              </a:solidFill>
            </a:endParaRPr>
          </a:p>
        </p:txBody>
      </p:sp>
      <p:sp>
        <p:nvSpPr>
          <p:cNvPr id="424" name="Google Shape;424;p44"/>
          <p:cNvSpPr txBox="1"/>
          <p:nvPr>
            <p:ph idx="4294967295" type="subTitle"/>
          </p:nvPr>
        </p:nvSpPr>
        <p:spPr>
          <a:xfrm>
            <a:off x="7046325" y="3658625"/>
            <a:ext cx="19704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0487A"/>
                </a:solidFill>
                <a:latin typeface="Impact"/>
                <a:ea typeface="Impact"/>
                <a:cs typeface="Impact"/>
                <a:sym typeface="Impact"/>
              </a:rPr>
              <a:t>26 February 2026</a:t>
            </a:r>
            <a:endParaRPr>
              <a:solidFill>
                <a:srgbClr val="10487A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425" name="Google Shape;425;p44" title="unsia log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0975" y="308225"/>
            <a:ext cx="1621113" cy="50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4" title="ieeeis_webid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2052" y="1066150"/>
            <a:ext cx="1583522" cy="4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4"/>
          <p:cNvSpPr txBox="1"/>
          <p:nvPr>
            <p:ph idx="1" type="subTitle"/>
          </p:nvPr>
        </p:nvSpPr>
        <p:spPr>
          <a:xfrm>
            <a:off x="272350" y="3660051"/>
            <a:ext cx="6353700" cy="795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0487A"/>
                </a:solidFill>
                <a:latin typeface="Inter"/>
                <a:ea typeface="Inter"/>
                <a:cs typeface="Inter"/>
                <a:sym typeface="Inter"/>
              </a:rPr>
              <a:t>Arfi Raushani Fikra, Riyanarto Sarno, Laurensia Simanihuruk, Dalila Anwar Dini Rasyidah, Alya Kamilah, Kelly Rossa Sungkono, Fadlilatul Taufany, Arif Abdullah Sagran</a:t>
            </a:r>
            <a:endParaRPr b="1" sz="1400">
              <a:solidFill>
                <a:srgbClr val="10487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5"/>
          <p:cNvSpPr txBox="1"/>
          <p:nvPr>
            <p:ph type="title"/>
          </p:nvPr>
        </p:nvSpPr>
        <p:spPr>
          <a:xfrm>
            <a:off x="296550" y="756767"/>
            <a:ext cx="2279700" cy="873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Outlines</a:t>
            </a:r>
            <a:endParaRPr/>
          </a:p>
        </p:txBody>
      </p:sp>
      <p:sp>
        <p:nvSpPr>
          <p:cNvPr id="433" name="Google Shape;433;p45"/>
          <p:cNvSpPr txBox="1"/>
          <p:nvPr>
            <p:ph idx="1" type="subTitle"/>
          </p:nvPr>
        </p:nvSpPr>
        <p:spPr>
          <a:xfrm>
            <a:off x="470951" y="1723800"/>
            <a:ext cx="8319000" cy="27243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AutoNum type="arabicPeriod"/>
            </a:pPr>
            <a:r>
              <a:rPr lang="en"/>
              <a:t>Background   </a:t>
            </a:r>
            <a:r>
              <a:rPr lang="en" sz="1100"/>
              <a:t>(Motivations, Problems, Research Objectives, Related Works, Gaps)</a:t>
            </a:r>
            <a:endParaRPr sz="1100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AutoNum type="arabicPeriod"/>
            </a:pPr>
            <a:r>
              <a:rPr lang="en"/>
              <a:t>Methodology </a:t>
            </a:r>
            <a:r>
              <a:rPr lang="en" sz="1100"/>
              <a:t>(Dataset Overview, Preprocessing Pipeline, Baseline Architecture, Proposed Novelties, Training Strategy)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AutoNum type="arabicPeriod"/>
            </a:pPr>
            <a:r>
              <a:rPr lang="en"/>
              <a:t>Results </a:t>
            </a:r>
            <a:r>
              <a:rPr lang="en" sz="1100"/>
              <a:t>(Ablation Study Results, Spectral Attention Analysis, Failure Analysis, Qualitative Results, Key Findings, Contributions, Limitations, Future Works)</a:t>
            </a:r>
            <a:endParaRPr/>
          </a:p>
        </p:txBody>
      </p:sp>
      <p:sp>
        <p:nvSpPr>
          <p:cNvPr id="434" name="Google Shape;434;p45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6"/>
          <p:cNvSpPr/>
          <p:nvPr/>
        </p:nvSpPr>
        <p:spPr>
          <a:xfrm>
            <a:off x="3019900" y="1382975"/>
            <a:ext cx="3045300" cy="37344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0" name="Google Shape;440;p46"/>
          <p:cNvSpPr/>
          <p:nvPr/>
        </p:nvSpPr>
        <p:spPr>
          <a:xfrm rot="10800000">
            <a:off x="-14117" y="1381875"/>
            <a:ext cx="3070200" cy="37344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46"/>
          <p:cNvSpPr/>
          <p:nvPr/>
        </p:nvSpPr>
        <p:spPr>
          <a:xfrm rot="10800000">
            <a:off x="6052725" y="1381775"/>
            <a:ext cx="3070200" cy="37248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2" name="Google Shape;442;p46"/>
          <p:cNvSpPr txBox="1"/>
          <p:nvPr>
            <p:ph idx="1" type="subTitle"/>
          </p:nvPr>
        </p:nvSpPr>
        <p:spPr>
          <a:xfrm>
            <a:off x="58316" y="1382972"/>
            <a:ext cx="2451300" cy="45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Challenges</a:t>
            </a:r>
            <a:endParaRPr b="1"/>
          </a:p>
        </p:txBody>
      </p:sp>
      <p:sp>
        <p:nvSpPr>
          <p:cNvPr id="443" name="Google Shape;443;p46"/>
          <p:cNvSpPr txBox="1"/>
          <p:nvPr>
            <p:ph idx="2" type="subTitle"/>
          </p:nvPr>
        </p:nvSpPr>
        <p:spPr>
          <a:xfrm>
            <a:off x="3320400" y="1910574"/>
            <a:ext cx="2451300" cy="45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it matters?</a:t>
            </a:r>
            <a:endParaRPr b="1"/>
          </a:p>
        </p:txBody>
      </p:sp>
      <p:sp>
        <p:nvSpPr>
          <p:cNvPr id="444" name="Google Shape;444;p46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5" name="Google Shape;445;p46"/>
          <p:cNvSpPr txBox="1"/>
          <p:nvPr>
            <p:ph type="title"/>
          </p:nvPr>
        </p:nvSpPr>
        <p:spPr>
          <a:xfrm>
            <a:off x="347850" y="662800"/>
            <a:ext cx="4551600" cy="4572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Motivation &amp; Problem</a:t>
            </a:r>
            <a:endParaRPr sz="3000"/>
          </a:p>
        </p:txBody>
      </p:sp>
      <p:sp>
        <p:nvSpPr>
          <p:cNvPr id="446" name="Google Shape;446;p46"/>
          <p:cNvSpPr txBox="1"/>
          <p:nvPr>
            <p:ph idx="6" type="subTitle"/>
          </p:nvPr>
        </p:nvSpPr>
        <p:spPr>
          <a:xfrm>
            <a:off x="173697" y="1832205"/>
            <a:ext cx="2392500" cy="16563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&lt; 10% ocean floors mapped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Manual surveys are expensive and slow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"/>
              <a:t>Insufficient spectral information when using RGB Image</a:t>
            </a:r>
            <a:endParaRPr/>
          </a:p>
        </p:txBody>
      </p:sp>
      <p:sp>
        <p:nvSpPr>
          <p:cNvPr id="447" name="Google Shape;447;p46"/>
          <p:cNvSpPr txBox="1"/>
          <p:nvPr>
            <p:ph idx="9" type="subTitle"/>
          </p:nvPr>
        </p:nvSpPr>
        <p:spPr>
          <a:xfrm>
            <a:off x="3275788" y="2342185"/>
            <a:ext cx="2392500" cy="16563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Climate change monitoring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Marine biodiversity conservation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Sustainable resource management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6"/>
          <p:cNvSpPr txBox="1"/>
          <p:nvPr>
            <p:ph idx="2" type="subTitle"/>
          </p:nvPr>
        </p:nvSpPr>
        <p:spPr>
          <a:xfrm>
            <a:off x="6518900" y="2673866"/>
            <a:ext cx="2451300" cy="45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Technical Problem</a:t>
            </a:r>
            <a:endParaRPr b="1"/>
          </a:p>
        </p:txBody>
      </p:sp>
      <p:sp>
        <p:nvSpPr>
          <p:cNvPr id="449" name="Google Shape;449;p46"/>
          <p:cNvSpPr txBox="1"/>
          <p:nvPr>
            <p:ph idx="9" type="subTitle"/>
          </p:nvPr>
        </p:nvSpPr>
        <p:spPr>
          <a:xfrm>
            <a:off x="6457830" y="3061415"/>
            <a:ext cx="2392500" cy="16563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Severe class imbalance (74% background)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Similar spectral signatures</a:t>
            </a:r>
            <a:endParaRPr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Water absorption dominates IR bands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0" name="Google Shape;450;p46"/>
          <p:cNvPicPr preferRelativeResize="0"/>
          <p:nvPr/>
        </p:nvPicPr>
        <p:blipFill rotWithShape="1">
          <a:blip r:embed="rId3">
            <a:alphaModFix/>
          </a:blip>
          <a:srcRect b="0" l="0" r="40493" t="0"/>
          <a:stretch/>
        </p:blipFill>
        <p:spPr>
          <a:xfrm>
            <a:off x="0" y="3836658"/>
            <a:ext cx="924774" cy="993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6"/>
          <p:cNvPicPr preferRelativeResize="0"/>
          <p:nvPr/>
        </p:nvPicPr>
        <p:blipFill rotWithShape="1">
          <a:blip r:embed="rId4">
            <a:alphaModFix/>
          </a:blip>
          <a:srcRect b="7734" l="0" r="0" t="513"/>
          <a:stretch/>
        </p:blipFill>
        <p:spPr>
          <a:xfrm>
            <a:off x="926904" y="4033053"/>
            <a:ext cx="1247975" cy="9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6"/>
          <p:cNvPicPr preferRelativeResize="0"/>
          <p:nvPr/>
        </p:nvPicPr>
        <p:blipFill rotWithShape="1">
          <a:blip r:embed="rId5">
            <a:alphaModFix/>
          </a:blip>
          <a:srcRect b="28267" l="14771" r="60776" t="21629"/>
          <a:stretch/>
        </p:blipFill>
        <p:spPr>
          <a:xfrm>
            <a:off x="2176999" y="3849518"/>
            <a:ext cx="491002" cy="5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6"/>
          <p:cNvPicPr preferRelativeResize="0"/>
          <p:nvPr/>
        </p:nvPicPr>
        <p:blipFill rotWithShape="1">
          <a:blip r:embed="rId5">
            <a:alphaModFix/>
          </a:blip>
          <a:srcRect b="27171" l="61881" r="14640" t="10650"/>
          <a:stretch/>
        </p:blipFill>
        <p:spPr>
          <a:xfrm>
            <a:off x="2576253" y="4260337"/>
            <a:ext cx="457051" cy="68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75226" y="1381775"/>
            <a:ext cx="1447698" cy="9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87177" y="1452200"/>
            <a:ext cx="924775" cy="624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6"/>
          <p:cNvPicPr preferRelativeResize="0"/>
          <p:nvPr/>
        </p:nvPicPr>
        <p:blipFill rotWithShape="1">
          <a:blip r:embed="rId8">
            <a:alphaModFix/>
          </a:blip>
          <a:srcRect b="26066" l="7482" r="7200" t="16227"/>
          <a:stretch/>
        </p:blipFill>
        <p:spPr>
          <a:xfrm>
            <a:off x="5024900" y="4547736"/>
            <a:ext cx="1577602" cy="507937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6"/>
          <p:cNvSpPr txBox="1"/>
          <p:nvPr>
            <p:ph idx="6" type="subTitle"/>
          </p:nvPr>
        </p:nvSpPr>
        <p:spPr>
          <a:xfrm>
            <a:off x="8952424" y="4694875"/>
            <a:ext cx="312600" cy="573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2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7"/>
          <p:cNvSpPr txBox="1"/>
          <p:nvPr>
            <p:ph type="title"/>
          </p:nvPr>
        </p:nvSpPr>
        <p:spPr>
          <a:xfrm>
            <a:off x="284400" y="650321"/>
            <a:ext cx="6418200" cy="5730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</a:t>
            </a:r>
            <a:r>
              <a:rPr lang="en"/>
              <a:t> Objectives</a:t>
            </a:r>
            <a:endParaRPr/>
          </a:p>
        </p:txBody>
      </p:sp>
      <p:sp>
        <p:nvSpPr>
          <p:cNvPr id="463" name="Google Shape;463;p47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4" name="Google Shape;464;p47"/>
          <p:cNvSpPr/>
          <p:nvPr/>
        </p:nvSpPr>
        <p:spPr>
          <a:xfrm>
            <a:off x="485632" y="1557650"/>
            <a:ext cx="548700" cy="573000"/>
          </a:xfrm>
          <a:prstGeom prst="ellipse">
            <a:avLst/>
          </a:prstGeom>
          <a:gradFill>
            <a:gsLst>
              <a:gs pos="0">
                <a:schemeClr val="accent1"/>
              </a:gs>
              <a:gs pos="69000">
                <a:schemeClr val="lt1"/>
              </a:gs>
              <a:gs pos="100000">
                <a:schemeClr val="dk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Google Shape;465;p47"/>
          <p:cNvSpPr txBox="1"/>
          <p:nvPr>
            <p:ph idx="4294967295" type="subTitle"/>
          </p:nvPr>
        </p:nvSpPr>
        <p:spPr>
          <a:xfrm>
            <a:off x="1245557" y="1434150"/>
            <a:ext cx="4755000" cy="11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Enhance HybridSN with Spectral Self-Attention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→ Adaptively emphasize underwater-relevant wavelengths</a:t>
            </a:r>
            <a:endParaRPr/>
          </a:p>
        </p:txBody>
      </p:sp>
      <p:sp>
        <p:nvSpPr>
          <p:cNvPr id="466" name="Google Shape;466;p47"/>
          <p:cNvSpPr/>
          <p:nvPr/>
        </p:nvSpPr>
        <p:spPr>
          <a:xfrm>
            <a:off x="2046425" y="2797150"/>
            <a:ext cx="548700" cy="573000"/>
          </a:xfrm>
          <a:prstGeom prst="ellipse">
            <a:avLst/>
          </a:prstGeom>
          <a:gradFill>
            <a:gsLst>
              <a:gs pos="0">
                <a:schemeClr val="accent1"/>
              </a:gs>
              <a:gs pos="69000">
                <a:schemeClr val="lt1"/>
              </a:gs>
              <a:gs pos="100000">
                <a:schemeClr val="dk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7" name="Google Shape;467;p47"/>
          <p:cNvSpPr txBox="1"/>
          <p:nvPr>
            <p:ph idx="4294967295" type="subTitle"/>
          </p:nvPr>
        </p:nvSpPr>
        <p:spPr>
          <a:xfrm>
            <a:off x="2806350" y="2673650"/>
            <a:ext cx="4755000" cy="11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Investigate Multi-Objective Loss Combinations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→ Address extreme class imbalance</a:t>
            </a:r>
            <a:endParaRPr/>
          </a:p>
        </p:txBody>
      </p:sp>
      <p:sp>
        <p:nvSpPr>
          <p:cNvPr id="468" name="Google Shape;468;p47"/>
          <p:cNvSpPr/>
          <p:nvPr/>
        </p:nvSpPr>
        <p:spPr>
          <a:xfrm>
            <a:off x="3636681" y="4036675"/>
            <a:ext cx="548700" cy="573000"/>
          </a:xfrm>
          <a:prstGeom prst="ellipse">
            <a:avLst/>
          </a:prstGeom>
          <a:gradFill>
            <a:gsLst>
              <a:gs pos="0">
                <a:schemeClr val="accent1"/>
              </a:gs>
              <a:gs pos="69000">
                <a:schemeClr val="lt1"/>
              </a:gs>
              <a:gs pos="100000">
                <a:schemeClr val="dk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24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9" name="Google Shape;469;p47"/>
          <p:cNvSpPr txBox="1"/>
          <p:nvPr>
            <p:ph idx="4294967295" type="subTitle"/>
          </p:nvPr>
        </p:nvSpPr>
        <p:spPr>
          <a:xfrm>
            <a:off x="4396606" y="3913175"/>
            <a:ext cx="4755000" cy="11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Validate on Real Norwegian Coastal Dataset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→ 7 habitat classes, 300 spectral bands</a:t>
            </a:r>
            <a:endParaRPr/>
          </a:p>
        </p:txBody>
      </p:sp>
      <p:pic>
        <p:nvPicPr>
          <p:cNvPr descr="Target Icon (Provided by Getty Images)" id="470" name="Google Shape;47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75" y="3862215"/>
            <a:ext cx="1239526" cy="1239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ick (Provided by Getty Images)" id="471" name="Google Shape;47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2035" y="1517389"/>
            <a:ext cx="653527" cy="653527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7"/>
          <p:cNvSpPr txBox="1"/>
          <p:nvPr>
            <p:ph idx="4294967295" type="subTitle"/>
          </p:nvPr>
        </p:nvSpPr>
        <p:spPr>
          <a:xfrm>
            <a:off x="8831400" y="4694875"/>
            <a:ext cx="3126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3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8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8" name="Google Shape;478;p48"/>
          <p:cNvSpPr txBox="1"/>
          <p:nvPr>
            <p:ph idx="3" type="subTitle"/>
          </p:nvPr>
        </p:nvSpPr>
        <p:spPr>
          <a:xfrm>
            <a:off x="4016075" y="980700"/>
            <a:ext cx="4849500" cy="12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for this study :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Sensor : Resonon Pika-L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Bands: 300 (400-1000 nm)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GSD: 3.5 cm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Platform: UAV-mounted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Location: Norwegian coast</a:t>
            </a:r>
            <a:endParaRPr/>
          </a:p>
        </p:txBody>
      </p:sp>
      <p:sp>
        <p:nvSpPr>
          <p:cNvPr id="479" name="Google Shape;479;p48"/>
          <p:cNvSpPr txBox="1"/>
          <p:nvPr/>
        </p:nvSpPr>
        <p:spPr>
          <a:xfrm>
            <a:off x="253245" y="417045"/>
            <a:ext cx="31050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Hyperspectral Imaging for Underwater</a:t>
            </a:r>
            <a:endParaRPr sz="2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480" name="Google Shape;480;p48"/>
          <p:cNvPicPr preferRelativeResize="0"/>
          <p:nvPr/>
        </p:nvPicPr>
        <p:blipFill rotWithShape="1">
          <a:blip r:embed="rId3">
            <a:alphaModFix/>
          </a:blip>
          <a:srcRect b="28267" l="14771" r="60776" t="21629"/>
          <a:stretch/>
        </p:blipFill>
        <p:spPr>
          <a:xfrm>
            <a:off x="324801" y="1601102"/>
            <a:ext cx="1107696" cy="127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8"/>
          <p:cNvPicPr preferRelativeResize="0"/>
          <p:nvPr/>
        </p:nvPicPr>
        <p:blipFill rotWithShape="1">
          <a:blip r:embed="rId3">
            <a:alphaModFix/>
          </a:blip>
          <a:srcRect b="27171" l="61881" r="14640" t="10650"/>
          <a:stretch/>
        </p:blipFill>
        <p:spPr>
          <a:xfrm>
            <a:off x="385852" y="3379164"/>
            <a:ext cx="985574" cy="1468149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8"/>
          <p:cNvSpPr txBox="1"/>
          <p:nvPr>
            <p:ph idx="3" type="subTitle"/>
          </p:nvPr>
        </p:nvSpPr>
        <p:spPr>
          <a:xfrm>
            <a:off x="1499712" y="1795613"/>
            <a:ext cx="2214000" cy="10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RGB Camera 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Bands (Red, Green, Blue)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 Limited discrimination</a:t>
            </a:r>
            <a:endParaRPr/>
          </a:p>
        </p:txBody>
      </p:sp>
      <p:sp>
        <p:nvSpPr>
          <p:cNvPr id="483" name="Google Shape;483;p48"/>
          <p:cNvSpPr txBox="1"/>
          <p:nvPr>
            <p:ph idx="3" type="subTitle"/>
          </p:nvPr>
        </p:nvSpPr>
        <p:spPr>
          <a:xfrm>
            <a:off x="1492850" y="3582121"/>
            <a:ext cx="2214000" cy="11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Hyperspectral</a:t>
            </a:r>
            <a:r>
              <a:rPr lang="en"/>
              <a:t> 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300 Bands [400nm...500nm...1000nm]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 Rich spectral features</a:t>
            </a:r>
            <a:endParaRPr/>
          </a:p>
        </p:txBody>
      </p:sp>
      <p:pic>
        <p:nvPicPr>
          <p:cNvPr id="484" name="Google Shape;48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6641" y="2474918"/>
            <a:ext cx="4667374" cy="2425737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8"/>
          <p:cNvSpPr txBox="1"/>
          <p:nvPr>
            <p:ph idx="7" type="subTitle"/>
          </p:nvPr>
        </p:nvSpPr>
        <p:spPr>
          <a:xfrm>
            <a:off x="8842027" y="4737383"/>
            <a:ext cx="312600" cy="5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4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9"/>
          <p:cNvSpPr txBox="1"/>
          <p:nvPr>
            <p:ph type="title"/>
          </p:nvPr>
        </p:nvSpPr>
        <p:spPr>
          <a:xfrm>
            <a:off x="277450" y="455900"/>
            <a:ext cx="6418200" cy="6618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Works &amp; Gaps</a:t>
            </a:r>
            <a:endParaRPr/>
          </a:p>
        </p:txBody>
      </p:sp>
      <p:sp>
        <p:nvSpPr>
          <p:cNvPr id="491" name="Google Shape;491;p49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2" name="Google Shape;492;p49"/>
          <p:cNvSpPr txBox="1"/>
          <p:nvPr/>
        </p:nvSpPr>
        <p:spPr>
          <a:xfrm>
            <a:off x="1336149" y="2381656"/>
            <a:ext cx="1575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550" lIns="108550" spcFirstLastPara="1" rIns="108550" wrap="square" tIns="10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4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SVM, Random Forest</a:t>
            </a:r>
            <a:endParaRPr sz="94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93" name="Google Shape;493;p49"/>
          <p:cNvSpPr txBox="1"/>
          <p:nvPr/>
        </p:nvSpPr>
        <p:spPr>
          <a:xfrm>
            <a:off x="471350" y="1714725"/>
            <a:ext cx="17436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550" lIns="108550" spcFirstLastPara="1" rIns="108550" wrap="square" tIns="10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87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Classical ML (2010-2015)</a:t>
            </a:r>
            <a:endParaRPr sz="1187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494" name="Google Shape;494;p49"/>
          <p:cNvCxnSpPr/>
          <p:nvPr/>
        </p:nvCxnSpPr>
        <p:spPr>
          <a:xfrm>
            <a:off x="1343227" y="2235896"/>
            <a:ext cx="0" cy="2616600"/>
          </a:xfrm>
          <a:prstGeom prst="straightConnector1">
            <a:avLst/>
          </a:prstGeom>
          <a:noFill/>
          <a:ln cap="flat" cmpd="sng" w="113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49"/>
          <p:cNvCxnSpPr/>
          <p:nvPr/>
        </p:nvCxnSpPr>
        <p:spPr>
          <a:xfrm>
            <a:off x="1346332" y="2565378"/>
            <a:ext cx="150900" cy="0"/>
          </a:xfrm>
          <a:prstGeom prst="straightConnector1">
            <a:avLst/>
          </a:prstGeom>
          <a:noFill/>
          <a:ln cap="flat" cmpd="sng" w="113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49"/>
          <p:cNvSpPr txBox="1"/>
          <p:nvPr/>
        </p:nvSpPr>
        <p:spPr>
          <a:xfrm>
            <a:off x="1388545" y="2605364"/>
            <a:ext cx="15237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550" lIns="108550" spcFirstLastPara="1" rIns="108550" wrap="square" tIns="108550">
            <a:noAutofit/>
          </a:bodyPr>
          <a:lstStyle/>
          <a:p>
            <a:pPr indent="-128182" lvl="0" marL="20358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Inter Light"/>
              <a:buChar char="●"/>
            </a:pPr>
            <a:r>
              <a:rPr lang="en" sz="94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Fast</a:t>
            </a:r>
            <a:endParaRPr sz="94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128182" lvl="0" marL="20358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Inter Light"/>
              <a:buChar char="●"/>
            </a:pPr>
            <a:r>
              <a:rPr lang="en" sz="94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No spatial context</a:t>
            </a:r>
            <a:endParaRPr sz="94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97" name="Google Shape;497;p49"/>
          <p:cNvSpPr txBox="1"/>
          <p:nvPr/>
        </p:nvSpPr>
        <p:spPr>
          <a:xfrm>
            <a:off x="1340242" y="3701889"/>
            <a:ext cx="1575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550" lIns="108550" spcFirstLastPara="1" rIns="108550" wrap="square" tIns="108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4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Handcrafted features</a:t>
            </a:r>
            <a:endParaRPr sz="94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498" name="Google Shape;498;p49"/>
          <p:cNvCxnSpPr/>
          <p:nvPr/>
        </p:nvCxnSpPr>
        <p:spPr>
          <a:xfrm>
            <a:off x="1344966" y="3885610"/>
            <a:ext cx="150900" cy="0"/>
          </a:xfrm>
          <a:prstGeom prst="straightConnector1">
            <a:avLst/>
          </a:prstGeom>
          <a:noFill/>
          <a:ln cap="flat" cmpd="sng" w="113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49"/>
          <p:cNvSpPr txBox="1"/>
          <p:nvPr/>
        </p:nvSpPr>
        <p:spPr>
          <a:xfrm>
            <a:off x="1414743" y="3925597"/>
            <a:ext cx="15237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550" lIns="108550" spcFirstLastPara="1" rIns="108550" wrap="square" tIns="108550">
            <a:noAutofit/>
          </a:bodyPr>
          <a:lstStyle/>
          <a:p>
            <a:pPr indent="-128182" lvl="0" marL="20358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Inter Light"/>
              <a:buChar char="●"/>
            </a:pPr>
            <a:r>
              <a:rPr lang="en" sz="94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Domain expertise required</a:t>
            </a:r>
            <a:endParaRPr sz="94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128182" lvl="0" marL="20358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Inter Light"/>
              <a:buChar char="●"/>
            </a:pPr>
            <a:r>
              <a:rPr lang="en" sz="94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Interpretable</a:t>
            </a:r>
            <a:endParaRPr sz="94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00" name="Google Shape;500;p49"/>
          <p:cNvSpPr txBox="1"/>
          <p:nvPr/>
        </p:nvSpPr>
        <p:spPr>
          <a:xfrm>
            <a:off x="4237250" y="2380262"/>
            <a:ext cx="1426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8250" lIns="98250" spcFirstLastPara="1" rIns="98250" wrap="square" tIns="9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2D CNN</a:t>
            </a:r>
            <a:endParaRPr sz="85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01" name="Google Shape;501;p49"/>
          <p:cNvSpPr txBox="1"/>
          <p:nvPr/>
        </p:nvSpPr>
        <p:spPr>
          <a:xfrm>
            <a:off x="3359168" y="1776678"/>
            <a:ext cx="15780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8250" lIns="98250" spcFirstLastPara="1" rIns="98250" wrap="square" tIns="98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4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Deep Learning</a:t>
            </a:r>
            <a:endParaRPr sz="1074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74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(2016-2023)</a:t>
            </a:r>
            <a:endParaRPr sz="1074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502" name="Google Shape;502;p49"/>
          <p:cNvCxnSpPr/>
          <p:nvPr/>
        </p:nvCxnSpPr>
        <p:spPr>
          <a:xfrm>
            <a:off x="4148236" y="2248346"/>
            <a:ext cx="0" cy="2687700"/>
          </a:xfrm>
          <a:prstGeom prst="straightConnector1">
            <a:avLst/>
          </a:prstGeom>
          <a:noFill/>
          <a:ln cap="flat" cmpd="sng" w="102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49"/>
          <p:cNvCxnSpPr/>
          <p:nvPr/>
        </p:nvCxnSpPr>
        <p:spPr>
          <a:xfrm>
            <a:off x="4151046" y="2546533"/>
            <a:ext cx="136800" cy="0"/>
          </a:xfrm>
          <a:prstGeom prst="straightConnector1">
            <a:avLst/>
          </a:prstGeom>
          <a:noFill/>
          <a:ln cap="flat" cmpd="sng" w="102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49"/>
          <p:cNvSpPr txBox="1"/>
          <p:nvPr/>
        </p:nvSpPr>
        <p:spPr>
          <a:xfrm>
            <a:off x="4189250" y="2582722"/>
            <a:ext cx="1378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8250" lIns="98250" spcFirstLastPara="1" rIns="98250" wrap="square" tIns="98250">
            <a:noAutofit/>
          </a:bodyPr>
          <a:lstStyle/>
          <a:p>
            <a:pPr indent="-116007" lvl="0" marL="18424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Inter Light"/>
              <a:buChar char="●"/>
            </a:pPr>
            <a:r>
              <a:rPr lang="en" sz="85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Spatial features</a:t>
            </a:r>
            <a:endParaRPr sz="85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116007" lvl="0" marL="18424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Inter Light"/>
              <a:buChar char="●"/>
            </a:pPr>
            <a:r>
              <a:rPr lang="en" sz="85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Ignores spectral</a:t>
            </a:r>
            <a:endParaRPr sz="85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05" name="Google Shape;505;p49"/>
          <p:cNvSpPr txBox="1"/>
          <p:nvPr/>
        </p:nvSpPr>
        <p:spPr>
          <a:xfrm>
            <a:off x="4145534" y="3939440"/>
            <a:ext cx="1426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8250" lIns="98250" spcFirstLastPara="1" rIns="98250" wrap="square" tIns="98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5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HybridSN</a:t>
            </a:r>
            <a:endParaRPr sz="85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506" name="Google Shape;506;p49"/>
          <p:cNvCxnSpPr/>
          <p:nvPr/>
        </p:nvCxnSpPr>
        <p:spPr>
          <a:xfrm>
            <a:off x="4149810" y="4105711"/>
            <a:ext cx="136800" cy="0"/>
          </a:xfrm>
          <a:prstGeom prst="straightConnector1">
            <a:avLst/>
          </a:prstGeom>
          <a:noFill/>
          <a:ln cap="flat" cmpd="sng" w="102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9"/>
          <p:cNvSpPr txBox="1"/>
          <p:nvPr/>
        </p:nvSpPr>
        <p:spPr>
          <a:xfrm>
            <a:off x="4212950" y="4141904"/>
            <a:ext cx="13788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8250" lIns="98250" spcFirstLastPara="1" rIns="98250" wrap="square" tIns="98250">
            <a:noAutofit/>
          </a:bodyPr>
          <a:lstStyle/>
          <a:p>
            <a:pPr indent="-116007" lvl="0" marL="18424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Inter Light"/>
              <a:buChar char="●"/>
            </a:pPr>
            <a:r>
              <a:rPr lang="en" sz="85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Efficient 3D+2D</a:t>
            </a:r>
            <a:endParaRPr sz="85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116007" lvl="0" marL="18424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Inter Light"/>
              <a:buChar char="●"/>
            </a:pPr>
            <a:r>
              <a:rPr lang="en" sz="85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Uniform band weight</a:t>
            </a:r>
            <a:endParaRPr sz="85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116007" lvl="0" marL="18424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Inter Light"/>
              <a:buChar char="●"/>
            </a:pPr>
            <a:r>
              <a:rPr lang="en" sz="85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Terrestrial focus</a:t>
            </a:r>
            <a:endParaRPr sz="85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08" name="Google Shape;508;p49"/>
          <p:cNvSpPr txBox="1"/>
          <p:nvPr/>
        </p:nvSpPr>
        <p:spPr>
          <a:xfrm>
            <a:off x="4222272" y="3064321"/>
            <a:ext cx="1426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8250" lIns="98250" spcFirstLastPara="1" rIns="98250" wrap="square" tIns="9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3D CNN</a:t>
            </a:r>
            <a:endParaRPr sz="85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509" name="Google Shape;509;p49"/>
          <p:cNvCxnSpPr/>
          <p:nvPr/>
        </p:nvCxnSpPr>
        <p:spPr>
          <a:xfrm>
            <a:off x="4139803" y="3230593"/>
            <a:ext cx="136800" cy="0"/>
          </a:xfrm>
          <a:prstGeom prst="straightConnector1">
            <a:avLst/>
          </a:prstGeom>
          <a:noFill/>
          <a:ln cap="flat" cmpd="sng" w="102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49"/>
          <p:cNvSpPr txBox="1"/>
          <p:nvPr/>
        </p:nvSpPr>
        <p:spPr>
          <a:xfrm>
            <a:off x="4202952" y="3266781"/>
            <a:ext cx="1378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8250" lIns="98250" spcFirstLastPara="1" rIns="98250" wrap="square" tIns="98250">
            <a:noAutofit/>
          </a:bodyPr>
          <a:lstStyle/>
          <a:p>
            <a:pPr indent="-116007" lvl="0" marL="18424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Inter Light"/>
              <a:buChar char="●"/>
            </a:pPr>
            <a:r>
              <a:rPr lang="en" sz="85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Spectral-spatial</a:t>
            </a:r>
            <a:endParaRPr sz="85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116007" lvl="0" marL="18424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Inter Light"/>
              <a:buChar char="●"/>
            </a:pPr>
            <a:r>
              <a:rPr lang="en" sz="85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High computation</a:t>
            </a:r>
            <a:endParaRPr sz="85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116007" lvl="0" marL="18424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60"/>
              <a:buFont typeface="Inter Light"/>
              <a:buChar char="●"/>
            </a:pPr>
            <a:r>
              <a:rPr lang="en" sz="85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Easy overfitting</a:t>
            </a:r>
            <a:endParaRPr sz="85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11" name="Google Shape;511;p49"/>
          <p:cNvSpPr txBox="1"/>
          <p:nvPr/>
        </p:nvSpPr>
        <p:spPr>
          <a:xfrm>
            <a:off x="7021232" y="2429647"/>
            <a:ext cx="14730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475" lIns="101475" spcFirstLastPara="1" rIns="101475" wrap="square" tIns="101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87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HybridSN + Spectral Attention</a:t>
            </a:r>
            <a:endParaRPr sz="887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12" name="Google Shape;512;p49"/>
          <p:cNvSpPr txBox="1"/>
          <p:nvPr/>
        </p:nvSpPr>
        <p:spPr>
          <a:xfrm>
            <a:off x="6105425" y="1808550"/>
            <a:ext cx="1629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475" lIns="101475" spcFirstLastPara="1" rIns="101475" wrap="square" tIns="10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Our Work</a:t>
            </a:r>
            <a:endParaRPr sz="110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9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(2025)</a:t>
            </a:r>
            <a:endParaRPr sz="1109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513" name="Google Shape;513;p49"/>
          <p:cNvCxnSpPr/>
          <p:nvPr/>
        </p:nvCxnSpPr>
        <p:spPr>
          <a:xfrm>
            <a:off x="6920349" y="2293397"/>
            <a:ext cx="0" cy="1128600"/>
          </a:xfrm>
          <a:prstGeom prst="straightConnector1">
            <a:avLst/>
          </a:prstGeom>
          <a:noFill/>
          <a:ln cap="flat" cmpd="sng" w="10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49"/>
          <p:cNvCxnSpPr/>
          <p:nvPr/>
        </p:nvCxnSpPr>
        <p:spPr>
          <a:xfrm>
            <a:off x="6923251" y="2601363"/>
            <a:ext cx="141300" cy="0"/>
          </a:xfrm>
          <a:prstGeom prst="straightConnector1">
            <a:avLst/>
          </a:prstGeom>
          <a:noFill/>
          <a:ln cap="flat" cmpd="sng" w="10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49"/>
          <p:cNvSpPr txBox="1"/>
          <p:nvPr/>
        </p:nvSpPr>
        <p:spPr>
          <a:xfrm>
            <a:off x="6982398" y="2768158"/>
            <a:ext cx="16692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475" lIns="101475" spcFirstLastPara="1" rIns="101475" wrap="square" tIns="101475">
            <a:noAutofit/>
          </a:bodyPr>
          <a:lstStyle/>
          <a:p>
            <a:pPr indent="-119811" lvl="0" marL="19028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8"/>
              <a:buFont typeface="Inter Light"/>
              <a:buChar char="●"/>
            </a:pPr>
            <a:r>
              <a:rPr lang="en" sz="887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Adaptive wavelength weighting</a:t>
            </a:r>
            <a:endParaRPr sz="887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119811" lvl="0" marL="19028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8"/>
              <a:buFont typeface="Inter Light"/>
              <a:buChar char="●"/>
            </a:pPr>
            <a:r>
              <a:rPr lang="en" sz="887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Negative results on loss combinatons</a:t>
            </a:r>
            <a:endParaRPr sz="887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16" name="Google Shape;516;p49"/>
          <p:cNvSpPr txBox="1"/>
          <p:nvPr/>
        </p:nvSpPr>
        <p:spPr>
          <a:xfrm>
            <a:off x="6715050" y="3582250"/>
            <a:ext cx="2203800" cy="1364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GAP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Existing methods : Treat all wavelengths equally</a:t>
            </a:r>
            <a:endParaRPr sz="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Underwater Specific : Need to suppress water-absorbed bands</a:t>
            </a:r>
            <a:r>
              <a:rPr lang="en"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endParaRPr sz="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Extreme Imbalance : Standard losses fail</a:t>
            </a:r>
            <a:endParaRPr sz="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17" name="Google Shape;517;p49"/>
          <p:cNvSpPr txBox="1"/>
          <p:nvPr>
            <p:ph idx="4294967295" type="subTitle"/>
          </p:nvPr>
        </p:nvSpPr>
        <p:spPr>
          <a:xfrm>
            <a:off x="8884535" y="4716129"/>
            <a:ext cx="3126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5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0"/>
          <p:cNvSpPr txBox="1"/>
          <p:nvPr>
            <p:ph type="title"/>
          </p:nvPr>
        </p:nvSpPr>
        <p:spPr>
          <a:xfrm>
            <a:off x="277450" y="1032675"/>
            <a:ext cx="3242100" cy="508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Dataset Overview</a:t>
            </a:r>
            <a:endParaRPr sz="3000"/>
          </a:p>
        </p:txBody>
      </p:sp>
      <p:sp>
        <p:nvSpPr>
          <p:cNvPr id="523" name="Google Shape;523;p50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50"/>
          <p:cNvSpPr txBox="1"/>
          <p:nvPr/>
        </p:nvSpPr>
        <p:spPr>
          <a:xfrm>
            <a:off x="633375" y="2046000"/>
            <a:ext cx="41220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550" lIns="108550" spcFirstLastPara="1" rIns="108550" wrap="square" tIns="10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MASSIMAL Dataset (Norwegian Coastal Sites)</a:t>
            </a:r>
            <a:endParaRPr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450000" y="2454300"/>
            <a:ext cx="4122000" cy="25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550" lIns="108550" spcFirstLastPara="1" rIns="108550" wrap="square" tIns="10855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Char char="●"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Maholmen, Smola Island, Norway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Char char="●"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17 Hyperspectral images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Char char="●"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300 Bands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Char char="●"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3.5 cm ground sampling distance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Char char="●"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7 Habitat classes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Char char="○"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Deep water (background) 74%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Char char="○"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Brown Algae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Char char="○"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Kelp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Char char="○"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Laminaria hyperborea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Char char="○"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Laminaria digitata ← Rare class </a:t>
            </a: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(1 image)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Char char="○"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Rockweed ← Rare class (1 image)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Char char="○"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Trawl Track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26" name="Google Shape;526;p50"/>
          <p:cNvSpPr txBox="1"/>
          <p:nvPr/>
        </p:nvSpPr>
        <p:spPr>
          <a:xfrm>
            <a:off x="4863950" y="2759250"/>
            <a:ext cx="41220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550" lIns="108550" spcFirstLastPara="1" rIns="108550" wrap="square" tIns="10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Split strategy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Char char="●"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Train: 8 images → 2,805 tiles (96×96)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Char char="●"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Val: 6 images → 3,490 tiles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Char char="●"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Test: 2 images → 2,338 tiles</a:t>
            </a: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Char char="●"/>
            </a:pPr>
            <a:r>
              <a:rPr lang="en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1 image split vertically (contains two rare classes) and distributed for each train-val-test split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27" name="Google Shape;527;p50"/>
          <p:cNvSpPr txBox="1"/>
          <p:nvPr>
            <p:ph idx="4294967295" type="subTitle"/>
          </p:nvPr>
        </p:nvSpPr>
        <p:spPr>
          <a:xfrm>
            <a:off x="8884535" y="4716129"/>
            <a:ext cx="3126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6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3" name="Google Shape;533;p51"/>
          <p:cNvSpPr txBox="1"/>
          <p:nvPr/>
        </p:nvSpPr>
        <p:spPr>
          <a:xfrm>
            <a:off x="824479" y="244300"/>
            <a:ext cx="31050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Preprocessing Pipeline</a:t>
            </a:r>
            <a:endParaRPr sz="2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34" name="Google Shape;534;p51"/>
          <p:cNvSpPr txBox="1"/>
          <p:nvPr>
            <p:ph idx="3" type="subTitle"/>
          </p:nvPr>
        </p:nvSpPr>
        <p:spPr>
          <a:xfrm>
            <a:off x="277450" y="853998"/>
            <a:ext cx="2214000" cy="82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Input : 4 files per image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radiance.bip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radiance.bip.hdr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irradiance.spec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irradiance.spec.hdr</a:t>
            </a:r>
            <a:endParaRPr sz="1000"/>
          </a:p>
        </p:txBody>
      </p:sp>
      <p:sp>
        <p:nvSpPr>
          <p:cNvPr id="535" name="Google Shape;535;p51"/>
          <p:cNvSpPr txBox="1"/>
          <p:nvPr>
            <p:ph idx="7" type="subTitle"/>
          </p:nvPr>
        </p:nvSpPr>
        <p:spPr>
          <a:xfrm>
            <a:off x="8842027" y="4737383"/>
            <a:ext cx="312600" cy="5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7</a:t>
            </a:r>
            <a:endParaRPr sz="1000"/>
          </a:p>
        </p:txBody>
      </p:sp>
      <p:sp>
        <p:nvSpPr>
          <p:cNvPr descr="A graph where competitors can be positioned according to price and quality. " id="536" name="Google Shape;536;p51"/>
          <p:cNvSpPr/>
          <p:nvPr/>
        </p:nvSpPr>
        <p:spPr>
          <a:xfrm rot="-2637">
            <a:off x="3884825" y="1050785"/>
            <a:ext cx="2346301" cy="432000"/>
          </a:xfrm>
          <a:prstGeom prst="roundRect">
            <a:avLst>
              <a:gd fmla="val 3960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Reflectance = (π × Radiance) / Irradiance</a:t>
            </a:r>
            <a:endParaRPr sz="10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37" name="Google Shape;537;p51"/>
          <p:cNvSpPr txBox="1"/>
          <p:nvPr>
            <p:ph idx="3" type="subTitle"/>
          </p:nvPr>
        </p:nvSpPr>
        <p:spPr>
          <a:xfrm>
            <a:off x="4050150" y="687875"/>
            <a:ext cx="1905000" cy="1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Inter"/>
                <a:ea typeface="Inter"/>
                <a:cs typeface="Inter"/>
                <a:sym typeface="Inter"/>
              </a:rPr>
              <a:t>STEP 1 : Convert radiance to reflectance</a:t>
            </a:r>
            <a:endParaRPr b="1"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descr="A graph where competitors can be positioned according to price and quality. " id="538" name="Google Shape;538;p51"/>
          <p:cNvSpPr/>
          <p:nvPr/>
        </p:nvSpPr>
        <p:spPr>
          <a:xfrm rot="-3323">
            <a:off x="6578550" y="1903860"/>
            <a:ext cx="1862101" cy="571500"/>
          </a:xfrm>
          <a:prstGeom prst="roundRect">
            <a:avLst>
              <a:gd fmla="val 27603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Uses NIR bands (800-900 nm) to estimate glint</a:t>
            </a:r>
            <a:endParaRPr sz="10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39" name="Google Shape;539;p51"/>
          <p:cNvSpPr txBox="1"/>
          <p:nvPr>
            <p:ph idx="3" type="subTitle"/>
          </p:nvPr>
        </p:nvSpPr>
        <p:spPr>
          <a:xfrm>
            <a:off x="6557100" y="1648475"/>
            <a:ext cx="1905000" cy="1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Inter"/>
                <a:ea typeface="Inter"/>
                <a:cs typeface="Inter"/>
                <a:sym typeface="Inter"/>
              </a:rPr>
              <a:t>STEP 2 : Sun glint removal</a:t>
            </a:r>
            <a:endParaRPr b="1"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descr="A graph where competitors can be positioned according to price and quality. " id="540" name="Google Shape;540;p51"/>
          <p:cNvSpPr/>
          <p:nvPr/>
        </p:nvSpPr>
        <p:spPr>
          <a:xfrm rot="-3202">
            <a:off x="4133100" y="2669539"/>
            <a:ext cx="1610401" cy="432300"/>
          </a:xfrm>
          <a:prstGeom prst="roundRect">
            <a:avLst>
              <a:gd fmla="val 3960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Min-Max scaling to [0, 1]</a:t>
            </a:r>
            <a:endParaRPr sz="10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41" name="Google Shape;541;p51"/>
          <p:cNvSpPr txBox="1"/>
          <p:nvPr>
            <p:ph idx="3" type="subTitle"/>
          </p:nvPr>
        </p:nvSpPr>
        <p:spPr>
          <a:xfrm>
            <a:off x="4045325" y="2476250"/>
            <a:ext cx="1905000" cy="1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Inter"/>
                <a:ea typeface="Inter"/>
                <a:cs typeface="Inter"/>
                <a:sym typeface="Inter"/>
              </a:rPr>
              <a:t>STEP 3 : Normalization</a:t>
            </a:r>
            <a:endParaRPr b="1"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descr="A graph where competitors can be positioned according to price and quality. " id="542" name="Google Shape;542;p51"/>
          <p:cNvSpPr/>
          <p:nvPr/>
        </p:nvSpPr>
        <p:spPr>
          <a:xfrm rot="-3202">
            <a:off x="6702700" y="3513887"/>
            <a:ext cx="1610401" cy="756000"/>
          </a:xfrm>
          <a:prstGeom prst="roundRect">
            <a:avLst>
              <a:gd fmla="val 190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96×96 tiles, </a:t>
            </a:r>
            <a:endParaRPr sz="10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augmentation : flips + 90°/180°/270° rotations</a:t>
            </a:r>
            <a:endParaRPr sz="10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43" name="Google Shape;543;p51"/>
          <p:cNvSpPr txBox="1"/>
          <p:nvPr>
            <p:ph idx="3" type="subTitle"/>
          </p:nvPr>
        </p:nvSpPr>
        <p:spPr>
          <a:xfrm>
            <a:off x="6557100" y="3133025"/>
            <a:ext cx="19050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Inter"/>
                <a:ea typeface="Inter"/>
                <a:cs typeface="Inter"/>
                <a:sym typeface="Inter"/>
              </a:rPr>
              <a:t>STEP 4 : Tiling, Splitting, &amp; Augmentation</a:t>
            </a:r>
            <a:endParaRPr b="1" sz="1000"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44" name="Google Shape;544;p51"/>
          <p:cNvGrpSpPr/>
          <p:nvPr/>
        </p:nvGrpSpPr>
        <p:grpSpPr>
          <a:xfrm>
            <a:off x="171175" y="1841075"/>
            <a:ext cx="3400876" cy="2879374"/>
            <a:chOff x="171175" y="1648475"/>
            <a:chExt cx="3400876" cy="2879374"/>
          </a:xfrm>
        </p:grpSpPr>
        <p:pic>
          <p:nvPicPr>
            <p:cNvPr id="545" name="Google Shape;545;p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175" y="1648475"/>
              <a:ext cx="3400875" cy="2222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6" name="Google Shape;546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1175" y="3871424"/>
              <a:ext cx="3267849" cy="65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7" name="Google Shape;547;p51"/>
          <p:cNvSpPr txBox="1"/>
          <p:nvPr>
            <p:ph idx="3" type="subTitle"/>
          </p:nvPr>
        </p:nvSpPr>
        <p:spPr>
          <a:xfrm>
            <a:off x="5105263" y="4663150"/>
            <a:ext cx="2888400" cy="2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Out</a:t>
            </a:r>
            <a:r>
              <a:rPr lang="en" sz="1000"/>
              <a:t>put : Preprocessed tiles for training</a:t>
            </a:r>
            <a:endParaRPr sz="1000"/>
          </a:p>
        </p:txBody>
      </p:sp>
      <p:cxnSp>
        <p:nvCxnSpPr>
          <p:cNvPr id="548" name="Google Shape;548;p51"/>
          <p:cNvCxnSpPr>
            <a:stCxn id="536" idx="3"/>
            <a:endCxn id="538" idx="1"/>
          </p:cNvCxnSpPr>
          <p:nvPr/>
        </p:nvCxnSpPr>
        <p:spPr>
          <a:xfrm>
            <a:off x="6231125" y="1265885"/>
            <a:ext cx="347400" cy="9246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9" name="Google Shape;549;p51"/>
          <p:cNvCxnSpPr>
            <a:stCxn id="538" idx="3"/>
            <a:endCxn id="540" idx="3"/>
          </p:cNvCxnSpPr>
          <p:nvPr/>
        </p:nvCxnSpPr>
        <p:spPr>
          <a:xfrm flipH="1">
            <a:off x="5743650" y="2188710"/>
            <a:ext cx="2697000" cy="696300"/>
          </a:xfrm>
          <a:prstGeom prst="bentConnector3">
            <a:avLst>
              <a:gd fmla="val -8829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0" name="Google Shape;550;p51"/>
          <p:cNvCxnSpPr>
            <a:stCxn id="540" idx="1"/>
            <a:endCxn id="542" idx="1"/>
          </p:cNvCxnSpPr>
          <p:nvPr/>
        </p:nvCxnSpPr>
        <p:spPr>
          <a:xfrm>
            <a:off x="4133100" y="2886439"/>
            <a:ext cx="2569500" cy="1006200"/>
          </a:xfrm>
          <a:prstGeom prst="bentConnector3">
            <a:avLst>
              <a:gd fmla="val -9267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1" name="Google Shape;551;p51"/>
          <p:cNvCxnSpPr>
            <a:stCxn id="542" idx="2"/>
            <a:endCxn id="547" idx="0"/>
          </p:cNvCxnSpPr>
          <p:nvPr/>
        </p:nvCxnSpPr>
        <p:spPr>
          <a:xfrm rot="5400000">
            <a:off x="6832000" y="3987287"/>
            <a:ext cx="393300" cy="958500"/>
          </a:xfrm>
          <a:prstGeom prst="bentConnector3">
            <a:avLst>
              <a:gd fmla="val 50074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2" name="Google Shape;552;p51"/>
          <p:cNvCxnSpPr>
            <a:stCxn id="534" idx="3"/>
            <a:endCxn id="536" idx="1"/>
          </p:cNvCxnSpPr>
          <p:nvPr/>
        </p:nvCxnSpPr>
        <p:spPr>
          <a:xfrm>
            <a:off x="2491450" y="1267848"/>
            <a:ext cx="1393500" cy="6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 txBox="1"/>
          <p:nvPr>
            <p:ph type="title"/>
          </p:nvPr>
        </p:nvSpPr>
        <p:spPr>
          <a:xfrm>
            <a:off x="338250" y="465225"/>
            <a:ext cx="50952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300">
                <a:latin typeface="Inter Light"/>
                <a:ea typeface="Inter Light"/>
                <a:cs typeface="Inter Light"/>
                <a:sym typeface="Inter Light"/>
              </a:rPr>
              <a:t>Baseline Architecture (HybridSN)</a:t>
            </a:r>
            <a:endParaRPr b="0" sz="23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58" name="Google Shape;558;p52"/>
          <p:cNvSpPr/>
          <p:nvPr/>
        </p:nvSpPr>
        <p:spPr>
          <a:xfrm>
            <a:off x="1250654" y="1107575"/>
            <a:ext cx="873925" cy="369300"/>
          </a:xfrm>
          <a:prstGeom prst="flowChartInputOutput">
            <a:avLst/>
          </a:prstGeom>
          <a:solidFill>
            <a:srgbClr val="FFE5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Input</a:t>
            </a:r>
            <a:endParaRPr sz="900"/>
          </a:p>
        </p:txBody>
      </p:sp>
      <p:sp>
        <p:nvSpPr>
          <p:cNvPr id="559" name="Google Shape;559;p52"/>
          <p:cNvSpPr/>
          <p:nvPr/>
        </p:nvSpPr>
        <p:spPr>
          <a:xfrm>
            <a:off x="620700" y="1705850"/>
            <a:ext cx="1956825" cy="1601925"/>
          </a:xfrm>
          <a:prstGeom prst="flowChartProcess">
            <a:avLst/>
          </a:prstGeom>
          <a:solidFill>
            <a:srgbClr val="B6D7A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2"/>
          <p:cNvSpPr/>
          <p:nvPr/>
        </p:nvSpPr>
        <p:spPr>
          <a:xfrm>
            <a:off x="939525" y="1923100"/>
            <a:ext cx="1276375" cy="30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Conv3D_1 (7x3x3, </a:t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16 filters)</a:t>
            </a:r>
            <a:endParaRPr sz="800"/>
          </a:p>
        </p:txBody>
      </p:sp>
      <p:sp>
        <p:nvSpPr>
          <p:cNvPr id="561" name="Google Shape;561;p52"/>
          <p:cNvSpPr/>
          <p:nvPr/>
        </p:nvSpPr>
        <p:spPr>
          <a:xfrm>
            <a:off x="939525" y="2417000"/>
            <a:ext cx="1276375" cy="30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Conv3D_2 (5x3x3, </a:t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32 filters)</a:t>
            </a:r>
            <a:endParaRPr/>
          </a:p>
        </p:txBody>
      </p:sp>
      <p:sp>
        <p:nvSpPr>
          <p:cNvPr id="562" name="Google Shape;562;p52"/>
          <p:cNvSpPr/>
          <p:nvPr/>
        </p:nvSpPr>
        <p:spPr>
          <a:xfrm>
            <a:off x="960925" y="2855700"/>
            <a:ext cx="1276375" cy="30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Conv3D_3 (3x3x3, </a:t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64 filters)</a:t>
            </a:r>
            <a:endParaRPr/>
          </a:p>
        </p:txBody>
      </p:sp>
      <p:sp>
        <p:nvSpPr>
          <p:cNvPr id="563" name="Google Shape;563;p52"/>
          <p:cNvSpPr txBox="1"/>
          <p:nvPr/>
        </p:nvSpPr>
        <p:spPr>
          <a:xfrm rot="-5400000">
            <a:off x="156600" y="2355727"/>
            <a:ext cx="123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3D Convolution Block</a:t>
            </a:r>
            <a:endParaRPr/>
          </a:p>
        </p:txBody>
      </p:sp>
      <p:sp>
        <p:nvSpPr>
          <p:cNvPr id="564" name="Google Shape;564;p52"/>
          <p:cNvSpPr/>
          <p:nvPr/>
        </p:nvSpPr>
        <p:spPr>
          <a:xfrm>
            <a:off x="6505875" y="1705860"/>
            <a:ext cx="1956825" cy="1601925"/>
          </a:xfrm>
          <a:prstGeom prst="flowChartProcess">
            <a:avLst/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2"/>
          <p:cNvSpPr/>
          <p:nvPr/>
        </p:nvSpPr>
        <p:spPr>
          <a:xfrm>
            <a:off x="6824700" y="1915038"/>
            <a:ext cx="1276375" cy="30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Conv2D_1 (3x3, </a:t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256 filters)</a:t>
            </a:r>
            <a:endParaRPr sz="800"/>
          </a:p>
        </p:txBody>
      </p:sp>
      <p:sp>
        <p:nvSpPr>
          <p:cNvPr id="566" name="Google Shape;566;p52"/>
          <p:cNvSpPr/>
          <p:nvPr/>
        </p:nvSpPr>
        <p:spPr>
          <a:xfrm>
            <a:off x="6824700" y="2408938"/>
            <a:ext cx="1276375" cy="30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Conv2D_2 (3x3, </a:t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128 filters)</a:t>
            </a:r>
            <a:endParaRPr sz="800"/>
          </a:p>
        </p:txBody>
      </p:sp>
      <p:sp>
        <p:nvSpPr>
          <p:cNvPr id="567" name="Google Shape;567;p52"/>
          <p:cNvSpPr/>
          <p:nvPr/>
        </p:nvSpPr>
        <p:spPr>
          <a:xfrm>
            <a:off x="6846100" y="2847638"/>
            <a:ext cx="1276375" cy="30950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Conv2D_3 (3x3, </a:t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64 filters)</a:t>
            </a:r>
            <a:endParaRPr sz="800"/>
          </a:p>
        </p:txBody>
      </p:sp>
      <p:sp>
        <p:nvSpPr>
          <p:cNvPr id="568" name="Google Shape;568;p52"/>
          <p:cNvSpPr txBox="1"/>
          <p:nvPr/>
        </p:nvSpPr>
        <p:spPr>
          <a:xfrm rot="-5400000">
            <a:off x="6041775" y="2356895"/>
            <a:ext cx="123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2</a:t>
            </a:r>
            <a:r>
              <a:rPr lang="en" sz="800"/>
              <a:t>D Convolution Block</a:t>
            </a:r>
            <a:endParaRPr/>
          </a:p>
        </p:txBody>
      </p:sp>
      <p:sp>
        <p:nvSpPr>
          <p:cNvPr id="569" name="Google Shape;569;p52"/>
          <p:cNvSpPr/>
          <p:nvPr/>
        </p:nvSpPr>
        <p:spPr>
          <a:xfrm>
            <a:off x="2860375" y="2185021"/>
            <a:ext cx="768900" cy="657300"/>
          </a:xfrm>
          <a:prstGeom prst="rect">
            <a:avLst/>
          </a:prstGeom>
          <a:solidFill>
            <a:srgbClr val="CC4125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Spectral Pooling</a:t>
            </a:r>
            <a:endParaRPr sz="1000"/>
          </a:p>
        </p:txBody>
      </p:sp>
      <p:sp>
        <p:nvSpPr>
          <p:cNvPr id="570" name="Google Shape;570;p52"/>
          <p:cNvSpPr/>
          <p:nvPr/>
        </p:nvSpPr>
        <p:spPr>
          <a:xfrm>
            <a:off x="4008575" y="2306821"/>
            <a:ext cx="801600" cy="41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Reshape</a:t>
            </a:r>
            <a:endParaRPr sz="1000"/>
          </a:p>
        </p:txBody>
      </p:sp>
      <p:sp>
        <p:nvSpPr>
          <p:cNvPr id="571" name="Google Shape;571;p52"/>
          <p:cNvSpPr/>
          <p:nvPr/>
        </p:nvSpPr>
        <p:spPr>
          <a:xfrm>
            <a:off x="5189475" y="2185025"/>
            <a:ext cx="1043700" cy="6573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Proposed </a:t>
            </a:r>
            <a:r>
              <a:rPr b="1" lang="en" sz="1000"/>
              <a:t>:</a:t>
            </a:r>
            <a:r>
              <a:rPr lang="en" sz="1000"/>
              <a:t> </a:t>
            </a:r>
            <a:r>
              <a:rPr lang="en" sz="1000"/>
              <a:t>Spectral Attention</a:t>
            </a:r>
            <a:endParaRPr sz="1000"/>
          </a:p>
        </p:txBody>
      </p:sp>
      <p:sp>
        <p:nvSpPr>
          <p:cNvPr id="572" name="Google Shape;572;p52"/>
          <p:cNvSpPr/>
          <p:nvPr/>
        </p:nvSpPr>
        <p:spPr>
          <a:xfrm>
            <a:off x="6792400" y="3744500"/>
            <a:ext cx="1383775" cy="309500"/>
          </a:xfrm>
          <a:prstGeom prst="flowChartProcess">
            <a:avLst/>
          </a:prstGeom>
          <a:solidFill>
            <a:srgbClr val="B4A7D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Classifier (Conv2D)</a:t>
            </a:r>
            <a:endParaRPr/>
          </a:p>
        </p:txBody>
      </p:sp>
      <p:sp>
        <p:nvSpPr>
          <p:cNvPr id="573" name="Google Shape;573;p52"/>
          <p:cNvSpPr/>
          <p:nvPr/>
        </p:nvSpPr>
        <p:spPr>
          <a:xfrm>
            <a:off x="6930563" y="4490725"/>
            <a:ext cx="1107450" cy="369300"/>
          </a:xfrm>
          <a:prstGeom prst="flowChartInputOutput">
            <a:avLst/>
          </a:prstGeom>
          <a:solidFill>
            <a:srgbClr val="FFE5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Output</a:t>
            </a:r>
            <a:endParaRPr sz="900"/>
          </a:p>
        </p:txBody>
      </p:sp>
      <p:sp>
        <p:nvSpPr>
          <p:cNvPr id="574" name="Google Shape;574;p52"/>
          <p:cNvSpPr txBox="1"/>
          <p:nvPr/>
        </p:nvSpPr>
        <p:spPr>
          <a:xfrm>
            <a:off x="2097706" y="1152977"/>
            <a:ext cx="179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B, 96x96 tiles, 300 bands</a:t>
            </a:r>
            <a:endParaRPr sz="1000"/>
          </a:p>
        </p:txBody>
      </p:sp>
      <p:sp>
        <p:nvSpPr>
          <p:cNvPr id="575" name="Google Shape;575;p52"/>
          <p:cNvSpPr txBox="1"/>
          <p:nvPr/>
        </p:nvSpPr>
        <p:spPr>
          <a:xfrm>
            <a:off x="446075" y="3762963"/>
            <a:ext cx="218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Extract spectral-spatial features</a:t>
            </a:r>
            <a:endParaRPr sz="1000"/>
          </a:p>
        </p:txBody>
      </p:sp>
      <p:sp>
        <p:nvSpPr>
          <p:cNvPr id="576" name="Google Shape;576;p52"/>
          <p:cNvSpPr txBox="1"/>
          <p:nvPr/>
        </p:nvSpPr>
        <p:spPr>
          <a:xfrm>
            <a:off x="604925" y="4185000"/>
            <a:ext cx="173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Reduce spectral dimension</a:t>
            </a:r>
            <a:endParaRPr sz="1000"/>
          </a:p>
        </p:txBody>
      </p:sp>
      <p:sp>
        <p:nvSpPr>
          <p:cNvPr id="577" name="Google Shape;577;p52"/>
          <p:cNvSpPr txBox="1"/>
          <p:nvPr/>
        </p:nvSpPr>
        <p:spPr>
          <a:xfrm>
            <a:off x="604925" y="4607025"/>
            <a:ext cx="218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Further compression</a:t>
            </a:r>
            <a:endParaRPr sz="1000"/>
          </a:p>
        </p:txBody>
      </p:sp>
      <p:cxnSp>
        <p:nvCxnSpPr>
          <p:cNvPr id="578" name="Google Shape;578;p52"/>
          <p:cNvCxnSpPr>
            <a:stCxn id="560" idx="3"/>
            <a:endCxn id="575" idx="0"/>
          </p:cNvCxnSpPr>
          <p:nvPr/>
        </p:nvCxnSpPr>
        <p:spPr>
          <a:xfrm flipH="1">
            <a:off x="1538200" y="2077850"/>
            <a:ext cx="677700" cy="1685100"/>
          </a:xfrm>
          <a:prstGeom prst="bentConnector4">
            <a:avLst>
              <a:gd fmla="val -18777" name="adj1"/>
              <a:gd fmla="val 89321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52"/>
          <p:cNvCxnSpPr>
            <a:stCxn id="561" idx="3"/>
            <a:endCxn id="576" idx="3"/>
          </p:cNvCxnSpPr>
          <p:nvPr/>
        </p:nvCxnSpPr>
        <p:spPr>
          <a:xfrm>
            <a:off x="2215900" y="2571750"/>
            <a:ext cx="127200" cy="1782600"/>
          </a:xfrm>
          <a:prstGeom prst="bentConnector3">
            <a:avLst>
              <a:gd fmla="val 212362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52"/>
          <p:cNvCxnSpPr>
            <a:stCxn id="562" idx="2"/>
            <a:endCxn id="577" idx="1"/>
          </p:cNvCxnSpPr>
          <p:nvPr/>
        </p:nvCxnSpPr>
        <p:spPr>
          <a:xfrm rot="5400000">
            <a:off x="296363" y="3473750"/>
            <a:ext cx="1611300" cy="994200"/>
          </a:xfrm>
          <a:prstGeom prst="bentConnector4">
            <a:avLst>
              <a:gd fmla="val 17523" name="adj1"/>
              <a:gd fmla="val 12395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" name="Google Shape;581;p52"/>
          <p:cNvSpPr txBox="1"/>
          <p:nvPr/>
        </p:nvSpPr>
        <p:spPr>
          <a:xfrm>
            <a:off x="2809411" y="3506375"/>
            <a:ext cx="87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300 bands → 8 bands</a:t>
            </a:r>
            <a:endParaRPr sz="1000"/>
          </a:p>
        </p:txBody>
      </p:sp>
      <p:cxnSp>
        <p:nvCxnSpPr>
          <p:cNvPr id="582" name="Google Shape;582;p52"/>
          <p:cNvCxnSpPr>
            <a:stCxn id="569" idx="2"/>
            <a:endCxn id="581" idx="0"/>
          </p:cNvCxnSpPr>
          <p:nvPr/>
        </p:nvCxnSpPr>
        <p:spPr>
          <a:xfrm flipH="1" rot="-5400000">
            <a:off x="2913475" y="3173671"/>
            <a:ext cx="664200" cy="1500"/>
          </a:xfrm>
          <a:prstGeom prst="bentConnector3">
            <a:avLst>
              <a:gd fmla="val 49989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52"/>
          <p:cNvSpPr txBox="1"/>
          <p:nvPr/>
        </p:nvSpPr>
        <p:spPr>
          <a:xfrm>
            <a:off x="3862622" y="3647600"/>
            <a:ext cx="110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[B, 512, H, W]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Flatten spectral dimension</a:t>
            </a:r>
            <a:endParaRPr sz="1000"/>
          </a:p>
        </p:txBody>
      </p:sp>
      <p:cxnSp>
        <p:nvCxnSpPr>
          <p:cNvPr id="584" name="Google Shape;584;p52"/>
          <p:cNvCxnSpPr>
            <a:stCxn id="570" idx="2"/>
            <a:endCxn id="583" idx="0"/>
          </p:cNvCxnSpPr>
          <p:nvPr/>
        </p:nvCxnSpPr>
        <p:spPr>
          <a:xfrm flipH="1" rot="-5400000">
            <a:off x="3949325" y="3180571"/>
            <a:ext cx="927000" cy="69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" name="Google Shape;585;p52"/>
          <p:cNvSpPr txBox="1"/>
          <p:nvPr/>
        </p:nvSpPr>
        <p:spPr>
          <a:xfrm>
            <a:off x="5521875" y="1058525"/>
            <a:ext cx="98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Focus on spatial features</a:t>
            </a:r>
            <a:endParaRPr sz="1000"/>
          </a:p>
        </p:txBody>
      </p:sp>
      <p:cxnSp>
        <p:nvCxnSpPr>
          <p:cNvPr id="586" name="Google Shape;586;p52"/>
          <p:cNvCxnSpPr>
            <a:stCxn id="585" idx="3"/>
            <a:endCxn id="564" idx="0"/>
          </p:cNvCxnSpPr>
          <p:nvPr/>
        </p:nvCxnSpPr>
        <p:spPr>
          <a:xfrm>
            <a:off x="6505875" y="1381775"/>
            <a:ext cx="978300" cy="324000"/>
          </a:xfrm>
          <a:prstGeom prst="bentConnector2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7" name="Google Shape;587;p52"/>
          <p:cNvSpPr txBox="1"/>
          <p:nvPr/>
        </p:nvSpPr>
        <p:spPr>
          <a:xfrm>
            <a:off x="5547775" y="4490725"/>
            <a:ext cx="147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7 class probabilities</a:t>
            </a:r>
            <a:endParaRPr sz="1000"/>
          </a:p>
        </p:txBody>
      </p:sp>
      <p:cxnSp>
        <p:nvCxnSpPr>
          <p:cNvPr id="588" name="Google Shape;588;p52"/>
          <p:cNvCxnSpPr>
            <a:stCxn id="559" idx="3"/>
            <a:endCxn id="569" idx="1"/>
          </p:cNvCxnSpPr>
          <p:nvPr/>
        </p:nvCxnSpPr>
        <p:spPr>
          <a:xfrm>
            <a:off x="2577525" y="2506813"/>
            <a:ext cx="282900" cy="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9" name="Google Shape;589;p52"/>
          <p:cNvCxnSpPr>
            <a:stCxn id="569" idx="3"/>
            <a:endCxn id="570" idx="1"/>
          </p:cNvCxnSpPr>
          <p:nvPr/>
        </p:nvCxnSpPr>
        <p:spPr>
          <a:xfrm>
            <a:off x="3629275" y="2513671"/>
            <a:ext cx="379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0" name="Google Shape;590;p52"/>
          <p:cNvCxnSpPr>
            <a:stCxn id="570" idx="3"/>
            <a:endCxn id="571" idx="1"/>
          </p:cNvCxnSpPr>
          <p:nvPr/>
        </p:nvCxnSpPr>
        <p:spPr>
          <a:xfrm>
            <a:off x="4810175" y="2513671"/>
            <a:ext cx="379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1" name="Google Shape;591;p52"/>
          <p:cNvCxnSpPr>
            <a:stCxn id="571" idx="3"/>
            <a:endCxn id="568" idx="0"/>
          </p:cNvCxnSpPr>
          <p:nvPr/>
        </p:nvCxnSpPr>
        <p:spPr>
          <a:xfrm flipH="1" rot="10800000">
            <a:off x="6233175" y="2510675"/>
            <a:ext cx="272700" cy="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2" name="Google Shape;592;p52"/>
          <p:cNvCxnSpPr>
            <a:stCxn id="564" idx="2"/>
            <a:endCxn id="572" idx="0"/>
          </p:cNvCxnSpPr>
          <p:nvPr/>
        </p:nvCxnSpPr>
        <p:spPr>
          <a:xfrm>
            <a:off x="7484288" y="3307785"/>
            <a:ext cx="0" cy="43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3" name="Google Shape;593;p52"/>
          <p:cNvCxnSpPr>
            <a:stCxn id="572" idx="2"/>
            <a:endCxn id="573" idx="1"/>
          </p:cNvCxnSpPr>
          <p:nvPr/>
        </p:nvCxnSpPr>
        <p:spPr>
          <a:xfrm>
            <a:off x="7484288" y="4054000"/>
            <a:ext cx="0" cy="43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4" name="Google Shape;594;p52"/>
          <p:cNvCxnSpPr>
            <a:stCxn id="558" idx="3"/>
            <a:endCxn id="559" idx="0"/>
          </p:cNvCxnSpPr>
          <p:nvPr/>
        </p:nvCxnSpPr>
        <p:spPr>
          <a:xfrm flipH="1">
            <a:off x="1599024" y="1476875"/>
            <a:ext cx="1200" cy="228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5" name="Google Shape;595;p52"/>
          <p:cNvSpPr txBox="1"/>
          <p:nvPr>
            <p:ph idx="7" type="subTitle"/>
          </p:nvPr>
        </p:nvSpPr>
        <p:spPr>
          <a:xfrm>
            <a:off x="8842027" y="4737383"/>
            <a:ext cx="312600" cy="5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8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3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1" name="Google Shape;601;p53"/>
          <p:cNvSpPr txBox="1"/>
          <p:nvPr/>
        </p:nvSpPr>
        <p:spPr>
          <a:xfrm>
            <a:off x="217950" y="575750"/>
            <a:ext cx="32454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Proposed Enhancement 1 : Spectral Attention</a:t>
            </a:r>
            <a:endParaRPr sz="2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02" name="Google Shape;602;p53"/>
          <p:cNvSpPr txBox="1"/>
          <p:nvPr>
            <p:ph idx="7" type="subTitle"/>
          </p:nvPr>
        </p:nvSpPr>
        <p:spPr>
          <a:xfrm>
            <a:off x="8842027" y="4737383"/>
            <a:ext cx="312600" cy="5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9</a:t>
            </a:r>
            <a:endParaRPr sz="1000"/>
          </a:p>
        </p:txBody>
      </p:sp>
      <p:sp>
        <p:nvSpPr>
          <p:cNvPr id="603" name="Google Shape;603;p53"/>
          <p:cNvSpPr txBox="1"/>
          <p:nvPr>
            <p:ph idx="3" type="subTitle"/>
          </p:nvPr>
        </p:nvSpPr>
        <p:spPr>
          <a:xfrm>
            <a:off x="277450" y="1795200"/>
            <a:ext cx="2888400" cy="17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Learn which spectral combinations are discriminative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Suppress water-absorbed bands (IR region &gt;700nm)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Emphasize informative regions (blue 400-450nm, red-edge 600-650nm)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Physically interpretable attention weights</a:t>
            </a:r>
            <a:endParaRPr sz="1300"/>
          </a:p>
        </p:txBody>
      </p:sp>
      <p:sp>
        <p:nvSpPr>
          <p:cNvPr id="604" name="Google Shape;604;p53"/>
          <p:cNvSpPr/>
          <p:nvPr/>
        </p:nvSpPr>
        <p:spPr>
          <a:xfrm>
            <a:off x="5230065" y="334111"/>
            <a:ext cx="873925" cy="369300"/>
          </a:xfrm>
          <a:prstGeom prst="flowChartInputOutput">
            <a:avLst/>
          </a:prstGeom>
          <a:solidFill>
            <a:srgbClr val="FFE5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Input (x)</a:t>
            </a:r>
            <a:endParaRPr sz="900"/>
          </a:p>
        </p:txBody>
      </p:sp>
      <p:sp>
        <p:nvSpPr>
          <p:cNvPr id="605" name="Google Shape;605;p53"/>
          <p:cNvSpPr/>
          <p:nvPr/>
        </p:nvSpPr>
        <p:spPr>
          <a:xfrm>
            <a:off x="4110736" y="959954"/>
            <a:ext cx="1217700" cy="6573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Global Average Pooling</a:t>
            </a:r>
            <a:endParaRPr sz="1000"/>
          </a:p>
        </p:txBody>
      </p:sp>
      <p:sp>
        <p:nvSpPr>
          <p:cNvPr id="606" name="Google Shape;606;p53"/>
          <p:cNvSpPr/>
          <p:nvPr/>
        </p:nvSpPr>
        <p:spPr>
          <a:xfrm>
            <a:off x="5975811" y="959954"/>
            <a:ext cx="1217700" cy="6573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Global Maximum Pooling</a:t>
            </a:r>
            <a:endParaRPr sz="1000"/>
          </a:p>
        </p:txBody>
      </p:sp>
      <p:sp>
        <p:nvSpPr>
          <p:cNvPr id="607" name="Google Shape;607;p53"/>
          <p:cNvSpPr/>
          <p:nvPr/>
        </p:nvSpPr>
        <p:spPr>
          <a:xfrm>
            <a:off x="4431197" y="2016975"/>
            <a:ext cx="2404200" cy="3693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Fully Connected 1 (512 → 32)</a:t>
            </a:r>
            <a:endParaRPr sz="1000"/>
          </a:p>
        </p:txBody>
      </p:sp>
      <p:sp>
        <p:nvSpPr>
          <p:cNvPr id="608" name="Google Shape;608;p53"/>
          <p:cNvSpPr/>
          <p:nvPr/>
        </p:nvSpPr>
        <p:spPr>
          <a:xfrm>
            <a:off x="4431200" y="3076075"/>
            <a:ext cx="2404200" cy="3693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Fully Connected 2 (32 → 512)</a:t>
            </a:r>
            <a:endParaRPr sz="1000"/>
          </a:p>
        </p:txBody>
      </p:sp>
      <p:sp>
        <p:nvSpPr>
          <p:cNvPr id="609" name="Google Shape;609;p53"/>
          <p:cNvSpPr/>
          <p:nvPr/>
        </p:nvSpPr>
        <p:spPr>
          <a:xfrm>
            <a:off x="5257537" y="2532761"/>
            <a:ext cx="790500" cy="369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ReLU</a:t>
            </a:r>
            <a:endParaRPr sz="1000"/>
          </a:p>
        </p:txBody>
      </p:sp>
      <p:sp>
        <p:nvSpPr>
          <p:cNvPr id="610" name="Google Shape;610;p53"/>
          <p:cNvSpPr/>
          <p:nvPr/>
        </p:nvSpPr>
        <p:spPr>
          <a:xfrm>
            <a:off x="4425555" y="3802502"/>
            <a:ext cx="2404200" cy="3693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Sigmoid (</a:t>
            </a:r>
            <a:r>
              <a:rPr lang="en" sz="1000">
                <a:solidFill>
                  <a:srgbClr val="212121"/>
                </a:solidFill>
              </a:rPr>
              <a:t>avg_weight + max_weight</a:t>
            </a:r>
            <a:r>
              <a:rPr lang="en" sz="1000"/>
              <a:t>)</a:t>
            </a:r>
            <a:endParaRPr sz="1000"/>
          </a:p>
        </p:txBody>
      </p:sp>
      <p:cxnSp>
        <p:nvCxnSpPr>
          <p:cNvPr id="611" name="Google Shape;611;p53"/>
          <p:cNvCxnSpPr>
            <a:stCxn id="604" idx="3"/>
            <a:endCxn id="605" idx="0"/>
          </p:cNvCxnSpPr>
          <p:nvPr/>
        </p:nvCxnSpPr>
        <p:spPr>
          <a:xfrm rot="5400000">
            <a:off x="5021335" y="401611"/>
            <a:ext cx="256500" cy="8601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2" name="Google Shape;612;p53"/>
          <p:cNvCxnSpPr>
            <a:stCxn id="604" idx="4"/>
            <a:endCxn id="606" idx="0"/>
          </p:cNvCxnSpPr>
          <p:nvPr/>
        </p:nvCxnSpPr>
        <p:spPr>
          <a:xfrm flipH="1" rot="-5400000">
            <a:off x="5997627" y="372811"/>
            <a:ext cx="256500" cy="9177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53"/>
          <p:cNvCxnSpPr>
            <a:stCxn id="606" idx="2"/>
            <a:endCxn id="607" idx="3"/>
          </p:cNvCxnSpPr>
          <p:nvPr/>
        </p:nvCxnSpPr>
        <p:spPr>
          <a:xfrm flipH="1" rot="-5400000">
            <a:off x="6417861" y="1784054"/>
            <a:ext cx="584400" cy="250800"/>
          </a:xfrm>
          <a:prstGeom prst="bentConnector4">
            <a:avLst>
              <a:gd fmla="val 34199" name="adj1"/>
              <a:gd fmla="val 194921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4" name="Google Shape;614;p53"/>
          <p:cNvCxnSpPr>
            <a:stCxn id="605" idx="2"/>
            <a:endCxn id="607" idx="1"/>
          </p:cNvCxnSpPr>
          <p:nvPr/>
        </p:nvCxnSpPr>
        <p:spPr>
          <a:xfrm rot="5400000">
            <a:off x="4283236" y="1765304"/>
            <a:ext cx="584400" cy="288300"/>
          </a:xfrm>
          <a:prstGeom prst="bentConnector4">
            <a:avLst>
              <a:gd fmla="val 34199" name="adj1"/>
              <a:gd fmla="val 182627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15" name="Google Shape;615;p53"/>
          <p:cNvGrpSpPr/>
          <p:nvPr/>
        </p:nvGrpSpPr>
        <p:grpSpPr>
          <a:xfrm>
            <a:off x="5427387" y="2398756"/>
            <a:ext cx="416200" cy="122063"/>
            <a:chOff x="5379762" y="2398756"/>
            <a:chExt cx="416200" cy="122063"/>
          </a:xfrm>
        </p:grpSpPr>
        <p:sp>
          <p:nvSpPr>
            <p:cNvPr id="616" name="Google Shape;616;p53"/>
            <p:cNvSpPr/>
            <p:nvPr/>
          </p:nvSpPr>
          <p:spPr>
            <a:xfrm>
              <a:off x="5379762" y="2399318"/>
              <a:ext cx="118200" cy="1215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53"/>
            <p:cNvSpPr/>
            <p:nvPr/>
          </p:nvSpPr>
          <p:spPr>
            <a:xfrm>
              <a:off x="5528762" y="2398756"/>
              <a:ext cx="118200" cy="1215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53"/>
            <p:cNvSpPr/>
            <p:nvPr/>
          </p:nvSpPr>
          <p:spPr>
            <a:xfrm>
              <a:off x="5677762" y="2398768"/>
              <a:ext cx="118200" cy="1215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9" name="Google Shape;619;p53"/>
          <p:cNvGrpSpPr/>
          <p:nvPr/>
        </p:nvGrpSpPr>
        <p:grpSpPr>
          <a:xfrm>
            <a:off x="5425212" y="2928031"/>
            <a:ext cx="416200" cy="122063"/>
            <a:chOff x="5379762" y="2398756"/>
            <a:chExt cx="416200" cy="122063"/>
          </a:xfrm>
        </p:grpSpPr>
        <p:sp>
          <p:nvSpPr>
            <p:cNvPr id="620" name="Google Shape;620;p53"/>
            <p:cNvSpPr/>
            <p:nvPr/>
          </p:nvSpPr>
          <p:spPr>
            <a:xfrm>
              <a:off x="5379762" y="2399318"/>
              <a:ext cx="118200" cy="1215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53"/>
            <p:cNvSpPr/>
            <p:nvPr/>
          </p:nvSpPr>
          <p:spPr>
            <a:xfrm>
              <a:off x="5528762" y="2398756"/>
              <a:ext cx="118200" cy="1215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53"/>
            <p:cNvSpPr/>
            <p:nvPr/>
          </p:nvSpPr>
          <p:spPr>
            <a:xfrm>
              <a:off x="5677762" y="2398768"/>
              <a:ext cx="118200" cy="1215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23" name="Google Shape;623;p53"/>
          <p:cNvCxnSpPr>
            <a:stCxn id="608" idx="1"/>
            <a:endCxn id="610" idx="1"/>
          </p:cNvCxnSpPr>
          <p:nvPr/>
        </p:nvCxnSpPr>
        <p:spPr>
          <a:xfrm flipH="1">
            <a:off x="4425500" y="3260725"/>
            <a:ext cx="5700" cy="726300"/>
          </a:xfrm>
          <a:prstGeom prst="bentConnector3">
            <a:avLst>
              <a:gd fmla="val 4276667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4" name="Google Shape;624;p53"/>
          <p:cNvCxnSpPr>
            <a:stCxn id="608" idx="3"/>
            <a:endCxn id="610" idx="3"/>
          </p:cNvCxnSpPr>
          <p:nvPr/>
        </p:nvCxnSpPr>
        <p:spPr>
          <a:xfrm flipH="1">
            <a:off x="6829700" y="3260725"/>
            <a:ext cx="5700" cy="726300"/>
          </a:xfrm>
          <a:prstGeom prst="bentConnector3">
            <a:avLst>
              <a:gd fmla="val -4177632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5" name="Google Shape;625;p53"/>
          <p:cNvSpPr/>
          <p:nvPr/>
        </p:nvSpPr>
        <p:spPr>
          <a:xfrm>
            <a:off x="5101376" y="4569150"/>
            <a:ext cx="1035725" cy="369300"/>
          </a:xfrm>
          <a:prstGeom prst="flowChartInputOutput">
            <a:avLst/>
          </a:prstGeom>
          <a:solidFill>
            <a:srgbClr val="FFE5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Output</a:t>
            </a:r>
            <a:endParaRPr sz="900"/>
          </a:p>
        </p:txBody>
      </p:sp>
      <p:cxnSp>
        <p:nvCxnSpPr>
          <p:cNvPr id="626" name="Google Shape;626;p53"/>
          <p:cNvCxnSpPr>
            <a:stCxn id="610" idx="2"/>
            <a:endCxn id="625" idx="1"/>
          </p:cNvCxnSpPr>
          <p:nvPr/>
        </p:nvCxnSpPr>
        <p:spPr>
          <a:xfrm flipH="1">
            <a:off x="5619255" y="4171802"/>
            <a:ext cx="8400" cy="39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7" name="Google Shape;627;p53"/>
          <p:cNvSpPr txBox="1"/>
          <p:nvPr/>
        </p:nvSpPr>
        <p:spPr>
          <a:xfrm>
            <a:off x="6318525" y="4592250"/>
            <a:ext cx="194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Output =  x * attention weight</a:t>
            </a:r>
            <a:endParaRPr sz="1000"/>
          </a:p>
        </p:txBody>
      </p:sp>
      <p:sp>
        <p:nvSpPr>
          <p:cNvPr id="628" name="Google Shape;628;p53"/>
          <p:cNvSpPr txBox="1"/>
          <p:nvPr/>
        </p:nvSpPr>
        <p:spPr>
          <a:xfrm>
            <a:off x="7455975" y="3952600"/>
            <a:ext cx="194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Attention weights</a:t>
            </a:r>
            <a:endParaRPr sz="1000"/>
          </a:p>
        </p:txBody>
      </p:sp>
      <p:sp>
        <p:nvSpPr>
          <p:cNvPr id="629" name="Google Shape;629;p53"/>
          <p:cNvSpPr/>
          <p:nvPr/>
        </p:nvSpPr>
        <p:spPr>
          <a:xfrm>
            <a:off x="6952551" y="4060906"/>
            <a:ext cx="548700" cy="122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4" name="Google Shape;634;p54"/>
          <p:cNvCxnSpPr/>
          <p:nvPr/>
        </p:nvCxnSpPr>
        <p:spPr>
          <a:xfrm>
            <a:off x="5000116" y="1117000"/>
            <a:ext cx="0" cy="389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54"/>
          <p:cNvSpPr txBox="1"/>
          <p:nvPr/>
        </p:nvSpPr>
        <p:spPr>
          <a:xfrm>
            <a:off x="217950" y="300889"/>
            <a:ext cx="59040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Proposed Enhancement 2 : Multi-Objective Loss</a:t>
            </a:r>
            <a:endParaRPr sz="2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36" name="Google Shape;636;p54"/>
          <p:cNvSpPr txBox="1"/>
          <p:nvPr>
            <p:ph idx="3" type="subTitle"/>
          </p:nvPr>
        </p:nvSpPr>
        <p:spPr>
          <a:xfrm>
            <a:off x="647192" y="2120061"/>
            <a:ext cx="3177900" cy="8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 :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Down-weight easy examples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Focus on hard negatives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Address class imbalance  </a:t>
            </a:r>
            <a:endParaRPr/>
          </a:p>
        </p:txBody>
      </p:sp>
      <p:sp>
        <p:nvSpPr>
          <p:cNvPr id="637" name="Google Shape;637;p54"/>
          <p:cNvSpPr txBox="1"/>
          <p:nvPr>
            <p:ph idx="3" type="subTitle"/>
          </p:nvPr>
        </p:nvSpPr>
        <p:spPr>
          <a:xfrm>
            <a:off x="148075" y="968732"/>
            <a:ext cx="2888400" cy="3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Theoretical Motivation</a:t>
            </a:r>
            <a:endParaRPr sz="1300"/>
          </a:p>
        </p:txBody>
      </p:sp>
      <p:sp>
        <p:nvSpPr>
          <p:cNvPr id="638" name="Google Shape;638;p54"/>
          <p:cNvSpPr txBox="1"/>
          <p:nvPr>
            <p:ph idx="3" type="subTitle"/>
          </p:nvPr>
        </p:nvSpPr>
        <p:spPr>
          <a:xfrm>
            <a:off x="298966" y="1354656"/>
            <a:ext cx="2888400" cy="3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Focal Loss (γ=5.0)</a:t>
            </a:r>
            <a:endParaRPr/>
          </a:p>
        </p:txBody>
      </p:sp>
      <p:pic>
        <p:nvPicPr>
          <p:cNvPr id="639" name="Google Shape;63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192" y="1619633"/>
            <a:ext cx="2716088" cy="5118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54"/>
          <p:cNvSpPr txBox="1"/>
          <p:nvPr>
            <p:ph idx="3" type="subTitle"/>
          </p:nvPr>
        </p:nvSpPr>
        <p:spPr>
          <a:xfrm>
            <a:off x="279293" y="3186732"/>
            <a:ext cx="2888400" cy="2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Dice</a:t>
            </a:r>
            <a:r>
              <a:rPr lang="en"/>
              <a:t> Loss</a:t>
            </a:r>
            <a:endParaRPr/>
          </a:p>
        </p:txBody>
      </p:sp>
      <p:pic>
        <p:nvPicPr>
          <p:cNvPr id="641" name="Google Shape;64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135" y="3362281"/>
            <a:ext cx="2716100" cy="567644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54"/>
          <p:cNvSpPr txBox="1"/>
          <p:nvPr>
            <p:ph idx="3" type="subTitle"/>
          </p:nvPr>
        </p:nvSpPr>
        <p:spPr>
          <a:xfrm>
            <a:off x="711137" y="3929925"/>
            <a:ext cx="2319900" cy="8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 :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Region-level overlap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Spatial coherence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IoU-like optimization  </a:t>
            </a:r>
            <a:endParaRPr/>
          </a:p>
        </p:txBody>
      </p:sp>
      <p:sp>
        <p:nvSpPr>
          <p:cNvPr id="643" name="Google Shape;643;p54"/>
          <p:cNvSpPr txBox="1"/>
          <p:nvPr>
            <p:ph idx="3" type="subTitle"/>
          </p:nvPr>
        </p:nvSpPr>
        <p:spPr>
          <a:xfrm>
            <a:off x="3044359" y="2718975"/>
            <a:ext cx="20142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Combined :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</a:t>
            </a:r>
            <a:r>
              <a:rPr baseline="-25000" lang="en" sz="1500"/>
              <a:t>total</a:t>
            </a:r>
            <a:r>
              <a:rPr lang="en" sz="1500"/>
              <a:t> = </a:t>
            </a:r>
            <a:r>
              <a:rPr lang="en" sz="1500"/>
              <a:t>L</a:t>
            </a:r>
            <a:r>
              <a:rPr baseline="-25000" lang="en" sz="1500"/>
              <a:t>focal</a:t>
            </a:r>
            <a:r>
              <a:rPr lang="en" sz="1500"/>
              <a:t> + </a:t>
            </a:r>
            <a:r>
              <a:rPr lang="en" sz="1500"/>
              <a:t>L</a:t>
            </a:r>
            <a:r>
              <a:rPr baseline="-25000" lang="en" sz="1500"/>
              <a:t>dice</a:t>
            </a:r>
            <a:endParaRPr sz="1500"/>
          </a:p>
        </p:txBody>
      </p:sp>
      <p:sp>
        <p:nvSpPr>
          <p:cNvPr id="644" name="Google Shape;644;p54"/>
          <p:cNvSpPr txBox="1"/>
          <p:nvPr>
            <p:ph idx="3" type="subTitle"/>
          </p:nvPr>
        </p:nvSpPr>
        <p:spPr>
          <a:xfrm>
            <a:off x="5258500" y="1117007"/>
            <a:ext cx="2888400" cy="3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Catastrophic Failure</a:t>
            </a:r>
            <a:endParaRPr sz="1300"/>
          </a:p>
        </p:txBody>
      </p:sp>
      <p:sp>
        <p:nvSpPr>
          <p:cNvPr id="645" name="Google Shape;645;p54"/>
          <p:cNvSpPr txBox="1"/>
          <p:nvPr>
            <p:ph idx="3" type="subTitle"/>
          </p:nvPr>
        </p:nvSpPr>
        <p:spPr>
          <a:xfrm>
            <a:off x="5134750" y="1540975"/>
            <a:ext cx="3837900" cy="11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happened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(CE only) : mIoU = 11.84%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+"/>
            </a:pPr>
            <a:r>
              <a:rPr lang="en"/>
              <a:t>Spectral Attention : mIoU = 12.08% ✓ (+2.0%)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+"/>
            </a:pPr>
            <a:r>
              <a:rPr lang="en"/>
              <a:t>Focal Loss (γ=5.0) : mIoU = 3.21% ✗ (-73.4%)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+"/>
            </a:pPr>
            <a:r>
              <a:rPr lang="en"/>
              <a:t>D</a:t>
            </a:r>
            <a:r>
              <a:rPr lang="en"/>
              <a:t>ice Loss : mIoU = 2.79% ✗ (-76.9%) </a:t>
            </a:r>
            <a:endParaRPr/>
          </a:p>
        </p:txBody>
      </p:sp>
      <p:sp>
        <p:nvSpPr>
          <p:cNvPr id="646" name="Google Shape;646;p54"/>
          <p:cNvSpPr txBox="1"/>
          <p:nvPr>
            <p:ph idx="3" type="subTitle"/>
          </p:nvPr>
        </p:nvSpPr>
        <p:spPr>
          <a:xfrm>
            <a:off x="5134750" y="2957050"/>
            <a:ext cx="3837900" cy="165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it Failed :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γ=5.0 over-amplifies hard examples causing gradient instability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Focal (sample-wise) conflicts with Dice (region-wise)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Optimizer cannot navigate chaotic loss landscape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Attention learning disrupted  </a:t>
            </a:r>
            <a:endParaRPr/>
          </a:p>
        </p:txBody>
      </p:sp>
      <p:sp>
        <p:nvSpPr>
          <p:cNvPr id="647" name="Google Shape;647;p54"/>
          <p:cNvSpPr txBox="1"/>
          <p:nvPr>
            <p:ph idx="7" type="subTitle"/>
          </p:nvPr>
        </p:nvSpPr>
        <p:spPr>
          <a:xfrm>
            <a:off x="8842027" y="4737383"/>
            <a:ext cx="312600" cy="5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10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2" name="Google Shape;652;p55"/>
          <p:cNvCxnSpPr/>
          <p:nvPr/>
        </p:nvCxnSpPr>
        <p:spPr>
          <a:xfrm>
            <a:off x="4659929" y="957025"/>
            <a:ext cx="0" cy="4027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55"/>
          <p:cNvSpPr txBox="1"/>
          <p:nvPr/>
        </p:nvSpPr>
        <p:spPr>
          <a:xfrm>
            <a:off x="217950" y="300900"/>
            <a:ext cx="23481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Training Strategy</a:t>
            </a:r>
            <a:endParaRPr sz="2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54" name="Google Shape;654;p55"/>
          <p:cNvSpPr txBox="1"/>
          <p:nvPr>
            <p:ph idx="3" type="subTitle"/>
          </p:nvPr>
        </p:nvSpPr>
        <p:spPr>
          <a:xfrm>
            <a:off x="210611" y="977300"/>
            <a:ext cx="4440300" cy="13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Optimizer &amp; Hyperparameters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Optimizer : AdamW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Learning rate : 1×10⁻⁴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Weight decay : 1×10⁻⁵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Effective batch size : 4 (via gradient accumulation)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Gradient clipping : max norm 0.5</a:t>
            </a:r>
            <a:endParaRPr sz="1300"/>
          </a:p>
        </p:txBody>
      </p:sp>
      <p:sp>
        <p:nvSpPr>
          <p:cNvPr id="655" name="Google Shape;655;p55"/>
          <p:cNvSpPr txBox="1"/>
          <p:nvPr>
            <p:ph idx="7" type="subTitle"/>
          </p:nvPr>
        </p:nvSpPr>
        <p:spPr>
          <a:xfrm>
            <a:off x="8842027" y="4737383"/>
            <a:ext cx="312600" cy="57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11</a:t>
            </a:r>
            <a:endParaRPr sz="1000"/>
          </a:p>
        </p:txBody>
      </p:sp>
      <p:sp>
        <p:nvSpPr>
          <p:cNvPr id="656" name="Google Shape;656;p55"/>
          <p:cNvSpPr txBox="1"/>
          <p:nvPr>
            <p:ph idx="3" type="subTitle"/>
          </p:nvPr>
        </p:nvSpPr>
        <p:spPr>
          <a:xfrm>
            <a:off x="210611" y="2423471"/>
            <a:ext cx="4290000" cy="184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Learning Rate Schedule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Phase 1 : Warmup (5 epochs)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Linear increase : 1×10⁻⁵ → 1×10⁻⁴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Prevents early instability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Phase 2 : ReduceLROnPlateau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Monitor : Validation mIoU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Patience : 5 epochs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Factor : 0.5 (halve LR)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Min LR : 1×10⁻⁷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57" name="Google Shape;657;p55"/>
          <p:cNvSpPr txBox="1"/>
          <p:nvPr>
            <p:ph idx="3" type="subTitle"/>
          </p:nvPr>
        </p:nvSpPr>
        <p:spPr>
          <a:xfrm>
            <a:off x="210611" y="4392804"/>
            <a:ext cx="4290000" cy="39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Early Stopping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Patience : 15 epochs (no improvement in val mIoU</a:t>
            </a:r>
            <a:endParaRPr sz="1300"/>
          </a:p>
        </p:txBody>
      </p:sp>
      <p:sp>
        <p:nvSpPr>
          <p:cNvPr id="658" name="Google Shape;658;p55"/>
          <p:cNvSpPr txBox="1"/>
          <p:nvPr>
            <p:ph idx="3" type="subTitle"/>
          </p:nvPr>
        </p:nvSpPr>
        <p:spPr>
          <a:xfrm>
            <a:off x="4808000" y="1011324"/>
            <a:ext cx="4370100" cy="210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Class Imbalance Mitigation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Strategy 1 : </a:t>
            </a:r>
            <a:r>
              <a:rPr lang="en" sz="1300"/>
              <a:t>Power-law class weighting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α</a:t>
            </a:r>
            <a:r>
              <a:rPr baseline="-25000" lang="en" sz="1300">
                <a:solidFill>
                  <a:schemeClr val="dk1"/>
                </a:solidFill>
              </a:rPr>
              <a:t>c</a:t>
            </a:r>
            <a:r>
              <a:rPr lang="en" sz="1300">
                <a:solidFill>
                  <a:schemeClr val="dk1"/>
                </a:solidFill>
              </a:rPr>
              <a:t> = (1/(freq</a:t>
            </a:r>
            <a:r>
              <a:rPr baseline="-25000" lang="en" sz="1300">
                <a:solidFill>
                  <a:schemeClr val="dk1"/>
                </a:solidFill>
              </a:rPr>
              <a:t>c</a:t>
            </a:r>
            <a:r>
              <a:rPr lang="en" sz="1300">
                <a:solidFill>
                  <a:schemeClr val="dk1"/>
                </a:solidFill>
              </a:rPr>
              <a:t> + ϵ))</a:t>
            </a:r>
            <a:r>
              <a:rPr baseline="30000" lang="en" sz="1300">
                <a:solidFill>
                  <a:schemeClr val="dk1"/>
                </a:solidFill>
              </a:rPr>
              <a:t>0.8</a:t>
            </a:r>
            <a:endParaRPr baseline="30000"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Background weight = 0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Strategy 2 : Adaptive oversampling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Extremely rare (&lt;50 tiles): 15× oversample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Rare (50-200 tiles): 10× oversample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Medium (200-1000): undersample to 500-600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659" name="Google Shape;659;p55"/>
          <p:cNvSpPr txBox="1"/>
          <p:nvPr>
            <p:ph idx="3" type="subTitle"/>
          </p:nvPr>
        </p:nvSpPr>
        <p:spPr>
          <a:xfrm>
            <a:off x="4807993" y="3286536"/>
            <a:ext cx="2680500" cy="8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Data Augmentation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Horizontal flip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Vertical flip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Rotations: 90°, 180°, 270°</a:t>
            </a:r>
            <a:endParaRPr sz="1300"/>
          </a:p>
        </p:txBody>
      </p:sp>
      <p:sp>
        <p:nvSpPr>
          <p:cNvPr id="660" name="Google Shape;660;p55"/>
          <p:cNvSpPr txBox="1"/>
          <p:nvPr>
            <p:ph idx="3" type="subTitle"/>
          </p:nvPr>
        </p:nvSpPr>
        <p:spPr>
          <a:xfrm>
            <a:off x="4807993" y="4322639"/>
            <a:ext cx="3462900" cy="39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Hardware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Nvidia RTX 4080 Super (16GB)</a:t>
            </a:r>
            <a:endParaRPr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6"/>
          <p:cNvSpPr txBox="1"/>
          <p:nvPr>
            <p:ph type="title"/>
          </p:nvPr>
        </p:nvSpPr>
        <p:spPr>
          <a:xfrm>
            <a:off x="277450" y="533925"/>
            <a:ext cx="3704700" cy="5148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Ablation Study Results</a:t>
            </a:r>
            <a:endParaRPr sz="2500"/>
          </a:p>
        </p:txBody>
      </p:sp>
      <p:sp>
        <p:nvSpPr>
          <p:cNvPr id="666" name="Google Shape;666;p56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67" name="Google Shape;667;p56"/>
          <p:cNvGraphicFramePr/>
          <p:nvPr/>
        </p:nvGraphicFramePr>
        <p:xfrm>
          <a:off x="240340" y="1394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{724BF0B0-4ADD-46CE-A64C-A67F10C38C31}</a:tableStyleId>
              </a:tblPr>
              <a:tblGrid>
                <a:gridCol w="1221450"/>
                <a:gridCol w="933075"/>
                <a:gridCol w="785525"/>
                <a:gridCol w="801875"/>
                <a:gridCol w="963000"/>
                <a:gridCol w="940575"/>
              </a:tblGrid>
              <a:tr h="555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Configuration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Pixel Accuracy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mIoU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Spectral Attention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Focal Loss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Dice Loss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Baseline (CE)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56.68%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11.84%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5675"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+"/>
                      </a:pPr>
                      <a:r>
                        <a:rPr lang="en" sz="1000"/>
                        <a:t>Spectral Attention (withSA)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58.02% 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(+1.34%)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12.08% 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(+2.0%)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✓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175"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+"/>
                      </a:pPr>
                      <a:r>
                        <a:rPr lang="en" sz="1000"/>
                        <a:t>Focal Loss (SAFocal)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17.64%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(-69.6%)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3.21%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(-73.4%)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✓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✓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175"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+"/>
                      </a:pPr>
                      <a:r>
                        <a:rPr lang="en" sz="1000"/>
                        <a:t>Dice Loss (Full)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15.05%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(-74.0%)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2.79%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(-76.9%)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✓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✓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✓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8" name="Google Shape;668;p56"/>
          <p:cNvSpPr txBox="1"/>
          <p:nvPr>
            <p:ph idx="4294967295" type="subTitle"/>
          </p:nvPr>
        </p:nvSpPr>
        <p:spPr>
          <a:xfrm>
            <a:off x="6052525" y="1937275"/>
            <a:ext cx="3091500" cy="21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Key Findings : 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Spectral Attention : +2.0% mIoU improvement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Stable channel selection (weights converged)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Focal+Dice : Catastrophic optimization failure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Model collapsed to predicting only dominant class</a:t>
            </a:r>
            <a:endParaRPr sz="1300"/>
          </a:p>
        </p:txBody>
      </p:sp>
      <p:sp>
        <p:nvSpPr>
          <p:cNvPr id="669" name="Google Shape;669;p56"/>
          <p:cNvSpPr txBox="1"/>
          <p:nvPr>
            <p:ph idx="4294967295" type="subTitle"/>
          </p:nvPr>
        </p:nvSpPr>
        <p:spPr>
          <a:xfrm>
            <a:off x="8842027" y="4650792"/>
            <a:ext cx="3126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12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7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5" name="Google Shape;675;p57"/>
          <p:cNvSpPr txBox="1"/>
          <p:nvPr>
            <p:ph idx="4294967295" type="subTitle"/>
          </p:nvPr>
        </p:nvSpPr>
        <p:spPr>
          <a:xfrm>
            <a:off x="113800" y="859749"/>
            <a:ext cx="6519000" cy="8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Top 9 Channels (weight = 1.0) : </a:t>
            </a:r>
            <a:r>
              <a:rPr lang="en"/>
              <a:t>152, 144, 153, 154, 147, 146, 120, 12, 448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→ Blue (400-450nm) + Red-Edge (600-650nm) Regions</a:t>
            </a:r>
            <a:endParaRPr/>
          </a:p>
        </p:txBody>
      </p:sp>
      <p:sp>
        <p:nvSpPr>
          <p:cNvPr id="676" name="Google Shape;676;p57"/>
          <p:cNvSpPr txBox="1"/>
          <p:nvPr>
            <p:ph idx="4294967295" type="subTitle"/>
          </p:nvPr>
        </p:nvSpPr>
        <p:spPr>
          <a:xfrm>
            <a:off x="6053700" y="1912288"/>
            <a:ext cx="2777700" cy="23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Attention aligns with underwater optical physics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Emphasizes discriminative wavelength regions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Network learns physically meaningful features!</a:t>
            </a:r>
            <a:endParaRPr/>
          </a:p>
        </p:txBody>
      </p:sp>
      <p:sp>
        <p:nvSpPr>
          <p:cNvPr id="677" name="Google Shape;677;p57"/>
          <p:cNvSpPr txBox="1"/>
          <p:nvPr>
            <p:ph idx="4294967295" type="subTitle"/>
          </p:nvPr>
        </p:nvSpPr>
        <p:spPr>
          <a:xfrm>
            <a:off x="8824445" y="4643665"/>
            <a:ext cx="4527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1</a:t>
            </a:r>
            <a:r>
              <a:rPr lang="en" sz="1000"/>
              <a:t>3</a:t>
            </a:r>
            <a:endParaRPr sz="1000"/>
          </a:p>
        </p:txBody>
      </p:sp>
      <p:sp>
        <p:nvSpPr>
          <p:cNvPr id="678" name="Google Shape;678;p57"/>
          <p:cNvSpPr txBox="1"/>
          <p:nvPr>
            <p:ph type="title"/>
          </p:nvPr>
        </p:nvSpPr>
        <p:spPr>
          <a:xfrm>
            <a:off x="277450" y="451099"/>
            <a:ext cx="4427700" cy="4482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Spectral Attention Analysis</a:t>
            </a:r>
            <a:endParaRPr sz="2500"/>
          </a:p>
        </p:txBody>
      </p:sp>
      <p:pic>
        <p:nvPicPr>
          <p:cNvPr id="679" name="Google Shape;679;p57"/>
          <p:cNvPicPr preferRelativeResize="0"/>
          <p:nvPr/>
        </p:nvPicPr>
        <p:blipFill rotWithShape="1">
          <a:blip r:embed="rId3">
            <a:alphaModFix/>
          </a:blip>
          <a:srcRect b="0" l="0" r="0" t="7612"/>
          <a:stretch/>
        </p:blipFill>
        <p:spPr>
          <a:xfrm>
            <a:off x="277450" y="1944884"/>
            <a:ext cx="5551698" cy="292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8"/>
          <p:cNvSpPr txBox="1"/>
          <p:nvPr>
            <p:ph type="title"/>
          </p:nvPr>
        </p:nvSpPr>
        <p:spPr>
          <a:xfrm>
            <a:off x="284400" y="398200"/>
            <a:ext cx="2548800" cy="5730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Failure Analysis</a:t>
            </a:r>
            <a:endParaRPr sz="2500"/>
          </a:p>
        </p:txBody>
      </p:sp>
      <p:sp>
        <p:nvSpPr>
          <p:cNvPr id="685" name="Google Shape;685;p58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6" name="Google Shape;686;p58"/>
          <p:cNvSpPr txBox="1"/>
          <p:nvPr>
            <p:ph idx="4294967295" type="subTitle"/>
          </p:nvPr>
        </p:nvSpPr>
        <p:spPr>
          <a:xfrm>
            <a:off x="170700" y="1105488"/>
            <a:ext cx="4782300" cy="22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Gradient Conflict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Focal loss : 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Amplified hard examples exponentially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Combined with α</a:t>
            </a:r>
            <a:r>
              <a:rPr baseline="-25000" lang="en" sz="1200">
                <a:solidFill>
                  <a:schemeClr val="dk1"/>
                </a:solidFill>
              </a:rPr>
              <a:t>c</a:t>
            </a:r>
            <a:r>
              <a:rPr lang="en" sz="1200">
                <a:solidFill>
                  <a:schemeClr val="dk1"/>
                </a:solidFill>
              </a:rPr>
              <a:t> = (1/(freq</a:t>
            </a:r>
            <a:r>
              <a:rPr baseline="-25000" lang="en" sz="1200">
                <a:solidFill>
                  <a:schemeClr val="dk1"/>
                </a:solidFill>
              </a:rPr>
              <a:t>c</a:t>
            </a:r>
            <a:r>
              <a:rPr lang="en" sz="1200">
                <a:solidFill>
                  <a:schemeClr val="dk1"/>
                </a:solidFill>
              </a:rPr>
              <a:t> + ϵ))</a:t>
            </a:r>
            <a:r>
              <a:rPr baseline="30000" lang="en" sz="1200">
                <a:solidFill>
                  <a:schemeClr val="dk1"/>
                </a:solidFill>
              </a:rPr>
              <a:t>0.8</a:t>
            </a:r>
            <a:r>
              <a:rPr lang="en" sz="1200">
                <a:solidFill>
                  <a:schemeClr val="dk1"/>
                </a:solidFill>
              </a:rPr>
              <a:t> caused extremely unstable updates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Dice loss 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Optimized global region overlap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Normalized across all pixels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/>
              <a:t>Conflict : Exponential sample-wise (Focal) met smooth region-wise (Dice) resulting chaotic loss landscape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87" name="Google Shape;687;p58"/>
          <p:cNvSpPr txBox="1"/>
          <p:nvPr>
            <p:ph idx="4294967295" type="subTitle"/>
          </p:nvPr>
        </p:nvSpPr>
        <p:spPr>
          <a:xfrm>
            <a:off x="8805342" y="4650778"/>
            <a:ext cx="4710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14</a:t>
            </a:r>
            <a:endParaRPr sz="1000"/>
          </a:p>
        </p:txBody>
      </p:sp>
      <p:sp>
        <p:nvSpPr>
          <p:cNvPr id="688" name="Google Shape;688;p58"/>
          <p:cNvSpPr txBox="1"/>
          <p:nvPr>
            <p:ph idx="4294967295" type="subTitle"/>
          </p:nvPr>
        </p:nvSpPr>
        <p:spPr>
          <a:xfrm>
            <a:off x="170691" y="3494883"/>
            <a:ext cx="3997500" cy="9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Attention Disruption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withSA (CE only) : Stable, consistent patterns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SAFocal : Erratic, random noise pattern</a:t>
            </a:r>
            <a:endParaRPr sz="1200"/>
          </a:p>
        </p:txBody>
      </p:sp>
      <p:sp>
        <p:nvSpPr>
          <p:cNvPr id="689" name="Google Shape;689;p58"/>
          <p:cNvSpPr txBox="1"/>
          <p:nvPr>
            <p:ph idx="4294967295" type="subTitle"/>
          </p:nvPr>
        </p:nvSpPr>
        <p:spPr>
          <a:xfrm>
            <a:off x="4884025" y="1381775"/>
            <a:ext cx="4700100" cy="14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Class Collapse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Baseline: Distributes predictions across classes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withSA: Improved diagonal, some classes detected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SAFocal: Collapses to Class 3 only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Full: Complete collapse to Class 2</a:t>
            </a:r>
            <a:endParaRPr sz="1200"/>
          </a:p>
        </p:txBody>
      </p:sp>
      <p:sp>
        <p:nvSpPr>
          <p:cNvPr id="690" name="Google Shape;690;p58"/>
          <p:cNvSpPr txBox="1"/>
          <p:nvPr>
            <p:ph idx="4294967295" type="subTitle"/>
          </p:nvPr>
        </p:nvSpPr>
        <p:spPr>
          <a:xfrm>
            <a:off x="4884025" y="2871575"/>
            <a:ext cx="4418700" cy="14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Lessons Learned : 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γ=5.0 too extreme for 74% imbalance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Power-smoothed weights (freq^-0.8) amplify instability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Multi-objective loss needs careful gradient balancing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Simpler alternatives (class-balanced CE) may be better</a:t>
            </a:r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9"/>
          <p:cNvSpPr txBox="1"/>
          <p:nvPr>
            <p:ph type="title"/>
          </p:nvPr>
        </p:nvSpPr>
        <p:spPr>
          <a:xfrm>
            <a:off x="284400" y="398200"/>
            <a:ext cx="3139200" cy="5730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Qualitative Results</a:t>
            </a:r>
            <a:endParaRPr sz="2500"/>
          </a:p>
        </p:txBody>
      </p:sp>
      <p:sp>
        <p:nvSpPr>
          <p:cNvPr id="696" name="Google Shape;696;p59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7" name="Google Shape;697;p59"/>
          <p:cNvSpPr txBox="1"/>
          <p:nvPr>
            <p:ph idx="4294967295" type="subTitle"/>
          </p:nvPr>
        </p:nvSpPr>
        <p:spPr>
          <a:xfrm>
            <a:off x="8805342" y="4650778"/>
            <a:ext cx="4710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15</a:t>
            </a:r>
            <a:endParaRPr sz="1000"/>
          </a:p>
        </p:txBody>
      </p:sp>
      <p:sp>
        <p:nvSpPr>
          <p:cNvPr id="698" name="Google Shape;698;p59"/>
          <p:cNvSpPr txBox="1"/>
          <p:nvPr>
            <p:ph idx="4294967295" type="subTitle"/>
          </p:nvPr>
        </p:nvSpPr>
        <p:spPr>
          <a:xfrm>
            <a:off x="170700" y="3737953"/>
            <a:ext cx="3997500" cy="13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Key Observations : 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Successfully captures spatial habitat structure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Delineates distinct ecological regions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Preserves boundary continuity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Demonstrates spectral-spatial feature learning</a:t>
            </a:r>
            <a:endParaRPr sz="1200"/>
          </a:p>
        </p:txBody>
      </p:sp>
      <p:pic>
        <p:nvPicPr>
          <p:cNvPr id="699" name="Google Shape;69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1736" y="1109739"/>
            <a:ext cx="2415425" cy="24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3829" y="1105838"/>
            <a:ext cx="2415425" cy="2415425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59"/>
          <p:cNvSpPr txBox="1"/>
          <p:nvPr>
            <p:ph idx="4294967295" type="subTitle"/>
          </p:nvPr>
        </p:nvSpPr>
        <p:spPr>
          <a:xfrm>
            <a:off x="4603200" y="3925227"/>
            <a:ext cx="39975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Note : 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/>
              <a:t>Despite class detection limitations (74% background imbalance), the model learns meaningful </a:t>
            </a:r>
            <a:r>
              <a:rPr lang="en" sz="1200"/>
              <a:t>spatial </a:t>
            </a:r>
            <a:r>
              <a:rPr lang="en" sz="1200"/>
              <a:t>patterns from hyperspectral features.</a:t>
            </a:r>
            <a:endParaRPr sz="1200"/>
          </a:p>
        </p:txBody>
      </p:sp>
      <p:sp>
        <p:nvSpPr>
          <p:cNvPr id="702" name="Google Shape;702;p59"/>
          <p:cNvSpPr/>
          <p:nvPr/>
        </p:nvSpPr>
        <p:spPr>
          <a:xfrm>
            <a:off x="3801994" y="2145913"/>
            <a:ext cx="711000" cy="36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9"/>
          <p:cNvSpPr txBox="1"/>
          <p:nvPr>
            <p:ph idx="4294967295" type="subTitle"/>
          </p:nvPr>
        </p:nvSpPr>
        <p:spPr>
          <a:xfrm>
            <a:off x="4639671" y="3383200"/>
            <a:ext cx="27603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/>
              <a:t>Segmentation with spatial </a:t>
            </a:r>
            <a:r>
              <a:rPr lang="en" sz="1200"/>
              <a:t>structure</a:t>
            </a:r>
            <a:endParaRPr sz="1200"/>
          </a:p>
        </p:txBody>
      </p:sp>
      <p:sp>
        <p:nvSpPr>
          <p:cNvPr id="704" name="Google Shape;704;p59"/>
          <p:cNvSpPr txBox="1"/>
          <p:nvPr>
            <p:ph idx="4294967295" type="subTitle"/>
          </p:nvPr>
        </p:nvSpPr>
        <p:spPr>
          <a:xfrm>
            <a:off x="1289874" y="3383200"/>
            <a:ext cx="16293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/>
              <a:t>Underwater Scene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0"/>
          <p:cNvSpPr txBox="1"/>
          <p:nvPr>
            <p:ph type="title"/>
          </p:nvPr>
        </p:nvSpPr>
        <p:spPr>
          <a:xfrm>
            <a:off x="284400" y="398200"/>
            <a:ext cx="4700100" cy="5730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Key Findings &amp; Contributions</a:t>
            </a:r>
            <a:endParaRPr sz="2500"/>
          </a:p>
        </p:txBody>
      </p:sp>
      <p:sp>
        <p:nvSpPr>
          <p:cNvPr id="710" name="Google Shape;710;p60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1" name="Google Shape;711;p60"/>
          <p:cNvSpPr txBox="1"/>
          <p:nvPr>
            <p:ph idx="4294967295" type="subTitle"/>
          </p:nvPr>
        </p:nvSpPr>
        <p:spPr>
          <a:xfrm>
            <a:off x="170700" y="1230227"/>
            <a:ext cx="4782300" cy="12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Spectral Attention Enhancement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+2.0% mIoU improvement (11.84% → 12.08%)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Physically interpretable (aligns with underwater optics)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Stable convergence across runs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12" name="Google Shape;712;p60"/>
          <p:cNvSpPr txBox="1"/>
          <p:nvPr>
            <p:ph idx="4294967295" type="subTitle"/>
          </p:nvPr>
        </p:nvSpPr>
        <p:spPr>
          <a:xfrm>
            <a:off x="8805342" y="4650778"/>
            <a:ext cx="4710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16</a:t>
            </a:r>
            <a:endParaRPr sz="1000"/>
          </a:p>
        </p:txBody>
      </p:sp>
      <p:sp>
        <p:nvSpPr>
          <p:cNvPr id="713" name="Google Shape;713;p60"/>
          <p:cNvSpPr txBox="1"/>
          <p:nvPr>
            <p:ph idx="4294967295" type="subTitle"/>
          </p:nvPr>
        </p:nvSpPr>
        <p:spPr>
          <a:xfrm>
            <a:off x="4884025" y="1381775"/>
            <a:ext cx="4700100" cy="14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Underwater HSI Benchmark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First application of HybridSN to underwater segmentation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Dealing with</a:t>
            </a:r>
            <a:r>
              <a:rPr lang="en" sz="1200"/>
              <a:t> 7 classes with severe imbalance (74% background)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Real-world Norwegian coastal dataset (300 bands)</a:t>
            </a:r>
            <a:endParaRPr sz="1200"/>
          </a:p>
        </p:txBody>
      </p:sp>
      <p:sp>
        <p:nvSpPr>
          <p:cNvPr id="714" name="Google Shape;714;p60"/>
          <p:cNvSpPr txBox="1"/>
          <p:nvPr>
            <p:ph idx="4294967295" type="subTitle"/>
          </p:nvPr>
        </p:nvSpPr>
        <p:spPr>
          <a:xfrm>
            <a:off x="141246" y="2556016"/>
            <a:ext cx="4782300" cy="23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Negative Result on Multi</a:t>
            </a:r>
            <a:r>
              <a:rPr lang="en" sz="1200"/>
              <a:t>-Objective Loss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Demonstrates fundamental incompatibility 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Focal (γ=5.0) + Dice → 73-77% mIoU drop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Gradient conflict causes optimization collapse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Disrupts attention learning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Provides guidance for community 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Avoid extreme focusing parameters with extreme imbalance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Test simpler alternatives first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15" name="Google Shape;715;p60"/>
          <p:cNvSpPr txBox="1"/>
          <p:nvPr>
            <p:ph idx="4294967295" type="subTitle"/>
          </p:nvPr>
        </p:nvSpPr>
        <p:spPr>
          <a:xfrm>
            <a:off x="4871101" y="3138300"/>
            <a:ext cx="4111800" cy="14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Scientific Value :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</a:t>
            </a:r>
            <a:r>
              <a:rPr lang="en" sz="1200"/>
              <a:t>ransparent reporting of negative results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Physically grounded methodology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Actionable insights for imbalanced HSI segmentation</a:t>
            </a:r>
            <a:endParaRPr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1"/>
          <p:cNvSpPr txBox="1"/>
          <p:nvPr>
            <p:ph type="title"/>
          </p:nvPr>
        </p:nvSpPr>
        <p:spPr>
          <a:xfrm>
            <a:off x="284400" y="398200"/>
            <a:ext cx="4700100" cy="5730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Limitation</a:t>
            </a:r>
            <a:r>
              <a:rPr lang="en" sz="2500"/>
              <a:t>s &amp; Future Work</a:t>
            </a:r>
            <a:endParaRPr sz="2500"/>
          </a:p>
        </p:txBody>
      </p:sp>
      <p:sp>
        <p:nvSpPr>
          <p:cNvPr id="721" name="Google Shape;721;p61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2" name="Google Shape;722;p61"/>
          <p:cNvSpPr txBox="1"/>
          <p:nvPr>
            <p:ph idx="4294967295" type="subTitle"/>
          </p:nvPr>
        </p:nvSpPr>
        <p:spPr>
          <a:xfrm>
            <a:off x="170700" y="1279075"/>
            <a:ext cx="33324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🔴 Dataset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Single site (Norwegian coast only)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Limited size (17 images)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Two rare classes in single image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23" name="Google Shape;723;p61"/>
          <p:cNvSpPr txBox="1"/>
          <p:nvPr>
            <p:ph idx="4294967295" type="subTitle"/>
          </p:nvPr>
        </p:nvSpPr>
        <p:spPr>
          <a:xfrm>
            <a:off x="8805342" y="4650778"/>
            <a:ext cx="4710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17</a:t>
            </a:r>
            <a:endParaRPr sz="1000"/>
          </a:p>
        </p:txBody>
      </p:sp>
      <p:cxnSp>
        <p:nvCxnSpPr>
          <p:cNvPr id="724" name="Google Shape;724;p61"/>
          <p:cNvCxnSpPr/>
          <p:nvPr/>
        </p:nvCxnSpPr>
        <p:spPr>
          <a:xfrm>
            <a:off x="3444155" y="974997"/>
            <a:ext cx="0" cy="4027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5" name="Google Shape;725;p61"/>
          <p:cNvSpPr txBox="1"/>
          <p:nvPr>
            <p:ph idx="4294967295" type="subTitle"/>
          </p:nvPr>
        </p:nvSpPr>
        <p:spPr>
          <a:xfrm>
            <a:off x="181450" y="2334500"/>
            <a:ext cx="32007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🔴 Architecture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96×96 tiles provide limited spatial context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Tile-based processing → boundary artifacts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Memory constraints (16GB GPU)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26" name="Google Shape;726;p61"/>
          <p:cNvSpPr txBox="1"/>
          <p:nvPr>
            <p:ph idx="4294967295" type="subTitle"/>
          </p:nvPr>
        </p:nvSpPr>
        <p:spPr>
          <a:xfrm>
            <a:off x="169075" y="3661869"/>
            <a:ext cx="31233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🔴 Performance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Absolute mIoU still low (12.08%)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Rare class detection incomplete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Multi-objective loss failed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27" name="Google Shape;727;p61"/>
          <p:cNvSpPr txBox="1"/>
          <p:nvPr>
            <p:ph idx="4294967295" type="subTitle"/>
          </p:nvPr>
        </p:nvSpPr>
        <p:spPr>
          <a:xfrm>
            <a:off x="193820" y="934090"/>
            <a:ext cx="1526700" cy="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Limitations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728" name="Google Shape;728;p61"/>
          <p:cNvSpPr txBox="1"/>
          <p:nvPr>
            <p:ph idx="4294967295" type="subTitle"/>
          </p:nvPr>
        </p:nvSpPr>
        <p:spPr>
          <a:xfrm>
            <a:off x="3501200" y="1238334"/>
            <a:ext cx="28464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🔵 Cross-Site Validation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Test on different geographic locations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Different sensor types (cross-sensor)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Seasonal variations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29" name="Google Shape;729;p61"/>
          <p:cNvSpPr txBox="1"/>
          <p:nvPr>
            <p:ph idx="4294967295" type="subTitle"/>
          </p:nvPr>
        </p:nvSpPr>
        <p:spPr>
          <a:xfrm>
            <a:off x="3478775" y="2527688"/>
            <a:ext cx="3749400" cy="13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🔵 Architecture Improvements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Multi-scale processing (64/96/128 tiles)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Hierarchical attention (band + spatial)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Transformer-based encoder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Memory-efficient training techniques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30" name="Google Shape;730;p61"/>
          <p:cNvSpPr txBox="1"/>
          <p:nvPr>
            <p:ph idx="4294967295" type="subTitle"/>
          </p:nvPr>
        </p:nvSpPr>
        <p:spPr>
          <a:xfrm>
            <a:off x="3426175" y="3659793"/>
            <a:ext cx="3460500" cy="13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🔵 Loss Function Research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Class-balanced Cross-Entropy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Lovász-Softmax loss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Sequential training strategies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Gradient balancing mechanisms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31" name="Google Shape;731;p61"/>
          <p:cNvSpPr txBox="1"/>
          <p:nvPr>
            <p:ph idx="4294967295" type="subTitle"/>
          </p:nvPr>
        </p:nvSpPr>
        <p:spPr>
          <a:xfrm>
            <a:off x="6187600" y="1284752"/>
            <a:ext cx="2846400" cy="15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🔵 Practical Applications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Real-time monitoring systems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 Integration with bathymetry data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Decision support for conservation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32" name="Google Shape;732;p61"/>
          <p:cNvSpPr txBox="1"/>
          <p:nvPr>
            <p:ph idx="4294967295" type="subTitle"/>
          </p:nvPr>
        </p:nvSpPr>
        <p:spPr>
          <a:xfrm>
            <a:off x="3705955" y="882125"/>
            <a:ext cx="2185500" cy="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Future Direction</a:t>
            </a:r>
            <a:r>
              <a:rPr lang="en" sz="1600">
                <a:solidFill>
                  <a:srgbClr val="0000FF"/>
                </a:solidFill>
              </a:rPr>
              <a:t>s</a:t>
            </a:r>
            <a:endParaRPr sz="16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2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8" name="Google Shape;738;p62"/>
          <p:cNvSpPr txBox="1"/>
          <p:nvPr>
            <p:ph idx="4294967295" type="subTitle"/>
          </p:nvPr>
        </p:nvSpPr>
        <p:spPr>
          <a:xfrm>
            <a:off x="172900" y="993125"/>
            <a:ext cx="5858100" cy="27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This research was supported by : 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🏛️ Indonesian Endowment Fund for Education (LPDP) Ministry of Higher Education, Science and Technology Contract No. 4299/B3/DT.03.08/2025 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🏛️ HETI ADB ITS - Penelitian Post-Doctoral 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🏛️ SINERGI Hilirisasi Inovasi Komersial Program 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🏛️ Ethereum Foundation Academic Grants Round 2025 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/>
              <a:t>📊 Dataset: MASSIMAL (Skjelvareid et al., 2025) NIRD Research Data Archive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39" name="Google Shape;739;p62"/>
          <p:cNvSpPr txBox="1"/>
          <p:nvPr>
            <p:ph idx="4294967295" type="subTitle"/>
          </p:nvPr>
        </p:nvSpPr>
        <p:spPr>
          <a:xfrm>
            <a:off x="8805342" y="4650778"/>
            <a:ext cx="4710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/>
              <a:t>18</a:t>
            </a:r>
            <a:endParaRPr sz="1000"/>
          </a:p>
        </p:txBody>
      </p:sp>
      <p:sp>
        <p:nvSpPr>
          <p:cNvPr id="740" name="Google Shape;740;p62"/>
          <p:cNvSpPr txBox="1"/>
          <p:nvPr>
            <p:ph idx="4294967295" type="subTitle"/>
          </p:nvPr>
        </p:nvSpPr>
        <p:spPr>
          <a:xfrm>
            <a:off x="4244475" y="3533162"/>
            <a:ext cx="4782300" cy="14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T</a:t>
            </a:r>
            <a:r>
              <a:rPr b="1" lang="en" sz="1200"/>
              <a:t>hank</a:t>
            </a:r>
            <a:r>
              <a:rPr b="1" lang="en" sz="1200">
                <a:solidFill>
                  <a:schemeClr val="dk1"/>
                </a:solidFill>
              </a:rPr>
              <a:t> Y</a:t>
            </a:r>
            <a:r>
              <a:rPr b="1" lang="en" sz="1200"/>
              <a:t>ou</a:t>
            </a:r>
            <a:r>
              <a:rPr b="1" lang="en" sz="1200">
                <a:solidFill>
                  <a:schemeClr val="dk1"/>
                </a:solidFill>
              </a:rPr>
              <a:t> F</a:t>
            </a:r>
            <a:r>
              <a:rPr b="1" lang="en" sz="1200"/>
              <a:t>or</a:t>
            </a:r>
            <a:r>
              <a:rPr b="1" lang="en" sz="1200">
                <a:solidFill>
                  <a:schemeClr val="dk1"/>
                </a:solidFill>
              </a:rPr>
              <a:t> Y</a:t>
            </a:r>
            <a:r>
              <a:rPr b="1" lang="en" sz="1200"/>
              <a:t>our</a:t>
            </a:r>
            <a:r>
              <a:rPr b="1" lang="en" sz="1200">
                <a:solidFill>
                  <a:schemeClr val="dk1"/>
                </a:solidFill>
              </a:rPr>
              <a:t> </a:t>
            </a:r>
            <a:r>
              <a:rPr b="1" lang="en" sz="1200"/>
              <a:t>Attention</a:t>
            </a:r>
            <a:r>
              <a:rPr lang="en" sz="1200"/>
              <a:t>, any q</a:t>
            </a:r>
            <a:r>
              <a:rPr lang="en" sz="1200">
                <a:solidFill>
                  <a:schemeClr val="dk1"/>
                </a:solidFill>
              </a:rPr>
              <a:t>uestions?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[Contact information]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📧 5025211084@student.its.ac.id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🏛️ Institut Teknologi Sepuluh Nopember, Indonesia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41" name="Google Shape;741;p62"/>
          <p:cNvSpPr txBox="1"/>
          <p:nvPr>
            <p:ph idx="4294967295" type="subTitle"/>
          </p:nvPr>
        </p:nvSpPr>
        <p:spPr>
          <a:xfrm>
            <a:off x="172895" y="420122"/>
            <a:ext cx="23922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Acknowledgements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742" name="Google Shape;742;p62"/>
          <p:cNvCxnSpPr/>
          <p:nvPr/>
        </p:nvCxnSpPr>
        <p:spPr>
          <a:xfrm>
            <a:off x="257575" y="1028366"/>
            <a:ext cx="4601400" cy="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62"/>
          <p:cNvCxnSpPr/>
          <p:nvPr/>
        </p:nvCxnSpPr>
        <p:spPr>
          <a:xfrm>
            <a:off x="356313" y="3515062"/>
            <a:ext cx="7816500" cy="0"/>
          </a:xfrm>
          <a:prstGeom prst="straightConnector1">
            <a:avLst/>
          </a:prstGeom>
          <a:noFill/>
          <a:ln cap="flat" cmpd="sng" w="9525">
            <a:solidFill>
              <a:srgbClr val="21212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Yellow">
  <a:themeElements>
    <a:clrScheme name="Simple Light">
      <a:dk1>
        <a:srgbClr val="10487A"/>
      </a:dk1>
      <a:lt1>
        <a:srgbClr val="FDFDFD"/>
      </a:lt1>
      <a:dk2>
        <a:srgbClr val="F2F2F2"/>
      </a:dk2>
      <a:lt2>
        <a:srgbClr val="999999"/>
      </a:lt2>
      <a:accent1>
        <a:srgbClr val="F9F933"/>
      </a:accent1>
      <a:accent2>
        <a:srgbClr val="FBFB74"/>
      </a:accent2>
      <a:accent3>
        <a:srgbClr val="FDFDC4"/>
      </a:accent3>
      <a:accent4>
        <a:srgbClr val="EDED07"/>
      </a:accent4>
      <a:accent5>
        <a:srgbClr val="DBDAD7"/>
      </a:accent5>
      <a:accent6>
        <a:srgbClr val="5A5959"/>
      </a:accent6>
      <a:hlink>
        <a:srgbClr val="20212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